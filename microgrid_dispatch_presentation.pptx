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de-DE" sz="4400" b="0" u="none" strike="noStrike">
                <a:solidFill>
                  <a:srgbClr val="000000"/>
                </a:solidFill>
                <a:effectLst/>
                <a:uFillTx/>
                <a:latin typeface="Arial"/>
              </a:rPr>
              <a:t>Folie mittels Klicken verschieben</a:t>
            </a:r>
            <a:endParaRPr lang="de-DE" sz="4400" b="0" u="none" strike="noStrike">
              <a:solidFill>
                <a:srgbClr val="000000"/>
              </a:solidFill>
              <a:effectLst/>
              <a:uFillTx/>
              <a:latin typeface="Arial"/>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&lt;Kopfzeile&gt;</a:t>
            </a:r>
            <a:endParaRPr lang="de-DE"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786CA102-5DBE-4019-89BD-8585EE9752BD}"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5680" cy="3085560"/>
          </a:xfrm>
          <a:prstGeom prst="rect">
            <a:avLst/>
          </a:prstGeom>
          <a:ln w="0">
            <a:noFill/>
          </a:ln>
        </p:spPr>
      </p:sp>
      <p:sp>
        <p:nvSpPr>
          <p:cNvPr id="1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Introduction. This deck presents the current project status: what has been implemented, what results we have, why we are exploring the quantum approach, and what the next steps are. Backup slides contain the detailed numbers.</a:t>
            </a:r>
            <a:endParaRPr lang="de-DE" sz="2000" b="0" u="none" strike="noStrike">
              <a:solidFill>
                <a:srgbClr val="000000"/>
              </a:solidFill>
              <a:effectLst/>
              <a:uFillTx/>
              <a:latin typeface="Arial"/>
            </a:endParaRPr>
          </a:p>
        </p:txBody>
      </p:sp>
      <p:sp>
        <p:nvSpPr>
          <p:cNvPr id="177"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C7C4E84-A6B8-4265-A3A7-05C20B1B872B}"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5680" cy="3085560"/>
          </a:xfrm>
          <a:prstGeom prst="rect">
            <a:avLst/>
          </a:prstGeom>
          <a:ln w="0">
            <a:noFill/>
          </a:ln>
        </p:spPr>
      </p:sp>
      <p:sp>
        <p:nvSpPr>
          <p:cNvPr id="1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Microgrid near Albuquerque, New Mexico. Four components, each 15-minute slot is its own dispatch decision — 2,880 decisions per month in total. Three main difficulties: ToU tariff makes timing critical, demand charge is set by a single peak, and the forecasts for PV and load are uncertain.</a:t>
            </a:r>
            <a:endParaRPr lang="de-DE" sz="2000" b="0" u="none" strike="noStrike">
              <a:solidFill>
                <a:srgbClr val="000000"/>
              </a:solidFill>
              <a:effectLst/>
              <a:uFillTx/>
              <a:latin typeface="Arial"/>
            </a:endParaRPr>
          </a:p>
        </p:txBody>
      </p:sp>
      <p:sp>
        <p:nvSpPr>
          <p:cNvPr id="180"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92201A-DA4B-424D-9985-379D86A04618}"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5680" cy="3085560"/>
          </a:xfrm>
          <a:prstGeom prst="rect">
            <a:avLst/>
          </a:prstGeom>
          <a:ln w="0">
            <a:noFill/>
          </a:ln>
        </p:spPr>
      </p:sp>
      <p:sp>
        <p:nvSpPr>
          <p:cNvPr id="1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Both solvers consume the same input file and produce the same output format. On the classical side we use Gurobi with a MILP formulation. On the quantum side we use a QUBO formulation solved by D-Wave Quantum Annealing. The comparison runs solver-agnostically on identical schedule CSVs.</a:t>
            </a:r>
            <a:endParaRPr lang="de-DE" sz="2000" b="0" u="none" strike="noStrike">
              <a:solidFill>
                <a:srgbClr val="000000"/>
              </a:solidFill>
              <a:effectLst/>
              <a:uFillTx/>
              <a:latin typeface="Arial"/>
            </a:endParaRPr>
          </a:p>
        </p:txBody>
      </p:sp>
      <p:sp>
        <p:nvSpPr>
          <p:cNvPr id="183"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1C622A6-C67C-44B5-837D-8A642166C0FA}"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5680" cy="3085560"/>
          </a:xfrm>
          <a:prstGeom prst="rect">
            <a:avLst/>
          </a:prstGeom>
          <a:ln w="0">
            <a:noFill/>
          </a:ln>
        </p:spPr>
      </p:sp>
      <p:sp>
        <p:nvSpPr>
          <p:cNvPr id="1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Data pipeline is complete and validated. The PV model is physics-based using pvlib with TMY weather data for Albuquerque. Load and ToU tariff are synthetic but realistically parameterized. Outage slots are needed for the resiliency calculation. All solvers read the same CSV file.</a:t>
            </a:r>
            <a:endParaRPr lang="de-DE" sz="2000" b="0" u="none" strike="noStrike">
              <a:solidFill>
                <a:srgbClr val="000000"/>
              </a:solidFill>
              <a:effectLst/>
              <a:uFillTx/>
              <a:latin typeface="Arial"/>
            </a:endParaRPr>
          </a:p>
        </p:txBody>
      </p:sp>
      <p:sp>
        <p:nvSpPr>
          <p:cNvPr id="186"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908911E-43CA-4AB4-B721-B447AB9F1758}"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680" cy="3085560"/>
          </a:xfrm>
          <a:prstGeom prst="rect">
            <a:avLst/>
          </a:prstGeom>
          <a:ln w="0">
            <a:noFill/>
          </a:ln>
        </p:spPr>
      </p:sp>
      <p:sp>
        <p:nvSpPr>
          <p:cNvPr id="1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classical solver handles the deterministic case trivially: 30 days in 2.2 seconds at optimality, gap effectively 0. The chart shows 48 hours of the dispatch plan. You can clearly see: battery charges at night (orange areas), discharges in the evening (green) when electricity is 8× more expensive. This is the behavior we expect — sanity check passed.</a:t>
            </a:r>
            <a:endParaRPr lang="de-DE" sz="2000" b="0" u="none" strike="noStrike">
              <a:solidFill>
                <a:srgbClr val="000000"/>
              </a:solidFill>
              <a:effectLst/>
              <a:uFillTx/>
              <a:latin typeface="Arial"/>
            </a:endParaRPr>
          </a:p>
        </p:txBody>
      </p:sp>
      <p:sp>
        <p:nvSpPr>
          <p:cNvPr id="189"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7F745B0-1F5A-4DD2-B2E4-3DA69B54FD4C}"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680" cy="3085560"/>
          </a:xfrm>
          <a:prstGeom prst="rect">
            <a:avLst/>
          </a:prstGeom>
          <a:ln w="0">
            <a:noFill/>
          </a:ln>
        </p:spPr>
      </p:sp>
      <p:sp>
        <p:nvSpPr>
          <p:cNvPr id="1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key observation of the presentation. In the deterministic case the problem is too easy for an interesting comparison. As soon as we add uncertainty — as is the case in practice — the search space grows dramatically. At M=10 and T=2880, Gurobi no longer completes within the 2-minute limit without proving optimality. This is exactly the regime where quantum approaches become potentially relevant.</a:t>
            </a:r>
            <a:endParaRPr lang="de-DE" sz="2000" b="0" u="none" strike="noStrike">
              <a:solidFill>
                <a:srgbClr val="000000"/>
              </a:solidFill>
              <a:effectLst/>
              <a:uFillTx/>
              <a:latin typeface="Arial"/>
            </a:endParaRPr>
          </a:p>
        </p:txBody>
      </p:sp>
      <p:sp>
        <p:nvSpPr>
          <p:cNvPr id="192"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92DE10-485F-4733-B053-6D5CE88574CE}"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5680" cy="3085560"/>
          </a:xfrm>
          <a:prstGeom prst="rect">
            <a:avLst/>
          </a:prstGeom>
          <a:ln w="0">
            <a:noFill/>
          </a:ln>
        </p:spPr>
      </p:sp>
      <p:sp>
        <p:nvSpPr>
          <p:cNvPr id="1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Log-log plot. Three curves: M=1 (deterministic) essentially follows an O(T) line. M=5 is noticeably steeper. M=10 reaches the time limit at the right edge. The difference in slopes is the key point — each additional scenario doesn't just add work additively, it adds work multiplicatively. This is the lever where quantum annealing could show structural advantages.</a:t>
            </a:r>
            <a:endParaRPr lang="de-DE" sz="2000" b="0" u="none" strike="noStrike">
              <a:solidFill>
                <a:srgbClr val="000000"/>
              </a:solidFill>
              <a:effectLst/>
              <a:uFillTx/>
              <a:latin typeface="Arial"/>
            </a:endParaRPr>
          </a:p>
        </p:txBody>
      </p:sp>
      <p:sp>
        <p:nvSpPr>
          <p:cNvPr id="195"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AA9B782-2A08-4792-8847-EB23232DB1E9}"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680" cy="3085560"/>
          </a:xfrm>
          <a:prstGeom prst="rect">
            <a:avLst/>
          </a:prstGeom>
          <a:ln w="0">
            <a:noFill/>
          </a:ln>
        </p:spPr>
      </p:sp>
      <p:sp>
        <p:nvSpPr>
          <p:cNvPr id="1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Most important explainer slide for non-quantum specialists. Three simple pictures: classical searches path by path, quantum models the entire solution landscape as an energy surface and the system rolls into the lowest valley. The metaphor is simplified but not wrong. The disclaimer at the bottom is important: we are not promising a speedup today, we are investigating the scaling behavior.</a:t>
            </a:r>
            <a:endParaRPr lang="de-DE" sz="2000" b="0" u="none" strike="noStrike">
              <a:solidFill>
                <a:srgbClr val="000000"/>
              </a:solidFill>
              <a:effectLst/>
              <a:uFillTx/>
              <a:latin typeface="Arial"/>
            </a:endParaRPr>
          </a:p>
        </p:txBody>
      </p:sp>
      <p:sp>
        <p:nvSpPr>
          <p:cNvPr id="198"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B6012FE-39DE-441D-A36A-92BDFFB09C23}"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5680" cy="3085560"/>
          </a:xfrm>
          <a:prstGeom prst="rect">
            <a:avLst/>
          </a:prstGeom>
          <a:ln w="0">
            <a:noFill/>
          </a:ln>
        </p:spPr>
      </p:sp>
      <p:sp>
        <p:nvSpPr>
          <p:cNvPr id="2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We focus on D-Wave for the quantum backend. Reasons: D-Wave is purpose-built for QUBO problems, our problem size fits the hardware, and the tooling is mature. QAOA on gate-model quantum computers could be a future extension, but is not part of the current scope.</a:t>
            </a:r>
            <a:endParaRPr lang="de-DE" sz="2000" b="0" u="none" strike="noStrike">
              <a:solidFill>
                <a:srgbClr val="000000"/>
              </a:solidFill>
              <a:effectLst/>
              <a:uFillTx/>
              <a:latin typeface="Arial"/>
            </a:endParaRPr>
          </a:p>
        </p:txBody>
      </p:sp>
      <p:sp>
        <p:nvSpPr>
          <p:cNvPr id="201"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0A972B5-C9E2-445A-87AD-1586AEFC3D36}"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5680" cy="3085560"/>
          </a:xfrm>
          <a:prstGeom prst="rect">
            <a:avLst/>
          </a:prstGeom>
          <a:ln w="0">
            <a:noFill/>
          </a:ln>
        </p:spPr>
      </p:sp>
      <p:sp>
        <p:nvSpPr>
          <p:cNvPr id="2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Left column: what's running. Middle column: what comes next — primarily the QUBO reformulation and the first D-Wave runs. Right column: open questions where we need input from the partner. Particularly relevant: the export tariff, because the current model assumes free export and exports aggressively as a result.</a:t>
            </a:r>
            <a:endParaRPr lang="de-DE" sz="2000" b="0" u="none" strike="noStrike">
              <a:solidFill>
                <a:srgbClr val="000000"/>
              </a:solidFill>
              <a:effectLst/>
              <a:uFillTx/>
              <a:latin typeface="Arial"/>
            </a:endParaRPr>
          </a:p>
        </p:txBody>
      </p:sp>
      <p:sp>
        <p:nvSpPr>
          <p:cNvPr id="204"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362F55F-6EF6-4483-A3D8-0A17C1CC2612}"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5680" cy="3085560"/>
          </a:xfrm>
          <a:prstGeom prst="rect">
            <a:avLst/>
          </a:prstGeom>
          <a:ln w="0">
            <a:noFill/>
          </a:ln>
        </p:spPr>
      </p:sp>
      <p:sp>
        <p:nvSpPr>
          <p:cNvPr id="2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Four key takeaways. Classical works, stochastic makes it interesting, quantum comparison baseline is ready, and the punch line comes from the stochastic hardness regime. After this, Q&amp;A — for detail questions, flip to the backup slides.</a:t>
            </a:r>
            <a:endParaRPr lang="de-DE" sz="2000" b="0" u="none" strike="noStrike">
              <a:solidFill>
                <a:srgbClr val="000000"/>
              </a:solidFill>
              <a:effectLst/>
              <a:uFillTx/>
              <a:latin typeface="Arial"/>
            </a:endParaRPr>
          </a:p>
        </p:txBody>
      </p:sp>
      <p:sp>
        <p:nvSpPr>
          <p:cNvPr id="207"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43EE977-A0CA-435C-8D12-C5E8187FC8C2}"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5680" cy="3085560"/>
          </a:xfrm>
          <a:prstGeom prst="rect">
            <a:avLst/>
          </a:prstGeom>
          <a:ln w="0">
            <a:noFill/>
          </a:ln>
        </p:spPr>
      </p:sp>
      <p:sp>
        <p:nvSpPr>
          <p:cNvPr id="2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Divider slide. Only show beyond this point if detail questions come up.</a:t>
            </a:r>
            <a:endParaRPr lang="de-DE" sz="2000" b="0" u="none" strike="noStrike">
              <a:solidFill>
                <a:srgbClr val="000000"/>
              </a:solidFill>
              <a:effectLst/>
              <a:uFillTx/>
              <a:latin typeface="Arial"/>
            </a:endParaRPr>
          </a:p>
        </p:txBody>
      </p:sp>
      <p:sp>
        <p:nvSpPr>
          <p:cNvPr id="210"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CDB050-6D60-457E-B707-16119C89863D}"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680" cy="3085560"/>
          </a:xfrm>
          <a:prstGeom prst="rect">
            <a:avLst/>
          </a:prstGeom>
          <a:ln w="0">
            <a:noFill/>
          </a:ln>
        </p:spPr>
      </p:sp>
      <p:sp>
        <p:nvSpPr>
          <p:cNvPr id="2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Full view of the runtime heatmap. At the largest instance (T=2880, M=10) the 2-minute time limit is reached — the MIP gap is already very small at 0.02 %, but Gurobi was unable to prove optimality.</a:t>
            </a:r>
            <a:endParaRPr lang="de-DE" sz="2000" b="0" u="none" strike="noStrike">
              <a:solidFill>
                <a:srgbClr val="000000"/>
              </a:solidFill>
              <a:effectLst/>
              <a:uFillTx/>
              <a:latin typeface="Arial"/>
            </a:endParaRPr>
          </a:p>
        </p:txBody>
      </p:sp>
      <p:sp>
        <p:nvSpPr>
          <p:cNvPr id="213"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F73E80B-6E6F-4479-819A-E04213393078}"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5680" cy="3085560"/>
          </a:xfrm>
          <a:prstGeom prst="rect">
            <a:avLst/>
          </a:prstGeom>
          <a:ln w="0">
            <a:noFill/>
          </a:ln>
        </p:spPr>
      </p:sp>
      <p:sp>
        <p:nvSpPr>
          <p:cNvPr id="2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stochastic solution costs $135 more — the price for the solver not knowing the realization of the random variables in advance. Demand charge is actually slightly lower in the stochastic case, while energy cost is higher. Resiliency revenue is marginal in both cases — that's a discussion point.</a:t>
            </a:r>
            <a:endParaRPr lang="de-DE" sz="2000" b="0" u="none" strike="noStrike">
              <a:solidFill>
                <a:srgbClr val="000000"/>
              </a:solidFill>
              <a:effectLst/>
              <a:uFillTx/>
              <a:latin typeface="Arial"/>
            </a:endParaRPr>
          </a:p>
        </p:txBody>
      </p:sp>
      <p:sp>
        <p:nvSpPr>
          <p:cNvPr id="216"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3BE19B-D8C8-4FC4-AFFB-AAD7723215A2}"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5680" cy="3085560"/>
          </a:xfrm>
          <a:prstGeom prst="rect">
            <a:avLst/>
          </a:prstGeom>
          <a:ln w="0">
            <a:noFill/>
          </a:ln>
        </p:spPr>
      </p:sp>
      <p:sp>
        <p:nvSpPr>
          <p:cNvPr id="2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Four core technical choices in the classical solver, in the order they were added: SoC-dependent power limits come from the One-Pager and were in from the start. XOR constraints on charge/discharge and import/export were added as a first hardness lever — they tighten the formulation and align with the QUBO structure. The two-stage stochastic coupling is the actual hardness driver.</a:t>
            </a:r>
            <a:endParaRPr lang="de-DE" sz="2000" b="0" u="none" strike="noStrike">
              <a:solidFill>
                <a:srgbClr val="000000"/>
              </a:solidFill>
              <a:effectLst/>
              <a:uFillTx/>
              <a:latin typeface="Arial"/>
            </a:endParaRPr>
          </a:p>
        </p:txBody>
      </p:sp>
      <p:sp>
        <p:nvSpPr>
          <p:cNvPr id="219"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9E52939-3211-44D2-A716-139C79673D2B}"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spAutoFit/>
          </a:bodyPr>
          <a:p>
            <a:pPr indent="0" algn="ctr">
              <a:buNone/>
            </a:pPr>
            <a:endParaRPr lang="de-DE"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tIns="0" rIns="0" bIns="0" anchor="ctr">
            <a:spAutoFit/>
          </a:bodyPr>
          <a:p>
            <a:pPr indent="0" algn="ctr">
              <a:buNone/>
            </a:pPr>
            <a:endParaRPr lang="de-DE"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de-DE" sz="4400" b="0" u="none" strike="noStrike">
                <a:solidFill>
                  <a:srgbClr val="000000"/>
                </a:solidFill>
                <a:effectLst/>
                <a:uFillTx/>
                <a:latin typeface="Arial"/>
              </a:defRPr>
            </a:lvl1pPr>
          </a:lstStyle>
          <a:p>
            <a:pPr indent="0" algn="ctr">
              <a:buNone/>
            </a:pPr>
            <a:r>
              <a:rPr lang="de-DE" sz="4400" b="0" u="none" strike="noStrike">
                <a:solidFill>
                  <a:srgbClr val="000000"/>
                </a:solidFill>
                <a:effectLst/>
                <a:uFillTx/>
                <a:latin typeface="Arial"/>
              </a:rPr>
              <a:t>Format des Titeltextes durch Klicken bearbeiten</a:t>
            </a:r>
            <a:endParaRPr lang="de-DE" sz="4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de-DE"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de-DE"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de-DE"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de-DE"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de-DE"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de-DE"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de-DE" sz="3200" b="0" u="none" strike="noStrike">
                <a:solidFill>
                  <a:srgbClr val="000000"/>
                </a:solidFill>
                <a:effectLst/>
                <a:uFillTx/>
                <a:latin typeface="Arial"/>
              </a:rPr>
              <a:t>Format des Gliederungstextes durch Klicken bearbeiten</a:t>
            </a:r>
            <a:endParaRPr lang="de-DE"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de-DE" sz="2800" b="0" u="none" strike="noStrike">
                <a:solidFill>
                  <a:srgbClr val="000000"/>
                </a:solidFill>
                <a:effectLst/>
                <a:uFillTx/>
                <a:latin typeface="Arial"/>
              </a:rPr>
              <a:t>Zweite Gliederungsebene</a:t>
            </a:r>
            <a:endParaRPr lang="de-DE"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de-DE" sz="2400" b="0" u="none" strike="noStrike">
                <a:solidFill>
                  <a:srgbClr val="000000"/>
                </a:solidFill>
                <a:effectLst/>
                <a:uFillTx/>
                <a:latin typeface="Arial"/>
              </a:rPr>
              <a:t>Dritte Gliederungsebene</a:t>
            </a:r>
            <a:endParaRPr lang="de-DE"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de-DE" sz="2000" b="0" u="none" strike="noStrike">
                <a:solidFill>
                  <a:srgbClr val="000000"/>
                </a:solidFill>
                <a:effectLst/>
                <a:uFillTx/>
                <a:latin typeface="Arial"/>
              </a:rPr>
              <a:t>Vierte Gliederungsebene</a:t>
            </a:r>
            <a:endParaRPr lang="de-DE"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Fünfte Gliederungsebene</a:t>
            </a:r>
            <a:endParaRPr lang="de-DE"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Sechste Gliederungsebene</a:t>
            </a:r>
            <a:endParaRPr lang="de-DE"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Siebte Gliederungsebene</a:t>
            </a:r>
            <a:endParaRPr lang="de-DE"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2" name="Text 0"/>
          <p:cNvSpPr/>
          <p:nvPr/>
        </p:nvSpPr>
        <p:spPr>
          <a:xfrm>
            <a:off x="731520" y="2194560"/>
            <a:ext cx="1069776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FFFFF"/>
                </a:solidFill>
                <a:effectLst/>
                <a:uFillTx/>
                <a:latin typeface="Calibri"/>
                <a:ea typeface="Calibri"/>
              </a:rPr>
              <a:t>Microgrid Dispatch Optimization</a:t>
            </a:r>
            <a:endParaRPr lang="de-DE" sz="4400" b="0" u="none" strike="noStrike">
              <a:solidFill>
                <a:srgbClr val="FFFFFF"/>
              </a:solidFill>
              <a:effectLst/>
              <a:uFillTx/>
              <a:latin typeface="Arial"/>
            </a:endParaRPr>
          </a:p>
        </p:txBody>
      </p:sp>
      <p:sp>
        <p:nvSpPr>
          <p:cNvPr id="13" name="Text 1"/>
          <p:cNvSpPr/>
          <p:nvPr/>
        </p:nvSpPr>
        <p:spPr>
          <a:xfrm>
            <a:off x="731520" y="3108960"/>
            <a:ext cx="1069776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CADCFC"/>
                </a:solidFill>
                <a:effectLst/>
                <a:uFillTx/>
                <a:latin typeface="Calibri"/>
                <a:ea typeface="Calibri"/>
              </a:rPr>
              <a:t>Classical vs. Quantum Approach</a:t>
            </a:r>
            <a:endParaRPr lang="de-DE" sz="2600" b="0" u="none" strike="noStrike">
              <a:solidFill>
                <a:srgbClr val="FFFFFF"/>
              </a:solidFill>
              <a:effectLst/>
              <a:uFillTx/>
              <a:latin typeface="Arial"/>
            </a:endParaRPr>
          </a:p>
        </p:txBody>
      </p:sp>
      <p:sp>
        <p:nvSpPr>
          <p:cNvPr id="14" name="Text 2"/>
          <p:cNvSpPr/>
          <p:nvPr/>
        </p:nvSpPr>
        <p:spPr>
          <a:xfrm>
            <a:off x="731520" y="4114800"/>
            <a:ext cx="10697760" cy="137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ADCFC"/>
                </a:solidFill>
                <a:effectLst/>
                <a:uFillTx/>
                <a:latin typeface="Calibri"/>
                <a:ea typeface="Calibri"/>
              </a:rPr>
              <a:t>Status Report</a:t>
            </a:r>
            <a:endParaRPr lang="de-DE"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CADCFC"/>
                </a:solidFill>
                <a:effectLst/>
                <a:uFillTx/>
                <a:latin typeface="Calibri"/>
                <a:ea typeface="Calibri"/>
              </a:rPr>
              <a:t>QC Praktikum</a:t>
            </a:r>
            <a:endParaRPr lang="de-DE"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CADCFC"/>
                </a:solidFill>
                <a:effectLst/>
                <a:uFillTx/>
                <a:latin typeface="Calibri"/>
                <a:ea typeface="Calibri"/>
              </a:rPr>
              <a:t>May 2026</a:t>
            </a:r>
            <a:endParaRPr lang="de-DE"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The Problem</a:t>
            </a:r>
            <a:endParaRPr lang="de-DE" sz="3200" b="0" u="none" strike="noStrike">
              <a:solidFill>
                <a:srgbClr val="000000"/>
              </a:solidFill>
              <a:effectLst/>
              <a:uFillTx/>
              <a:latin typeface="Arial"/>
            </a:endParaRPr>
          </a:p>
        </p:txBody>
      </p:sp>
      <p:sp>
        <p:nvSpPr>
          <p:cNvPr id="16"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When does the battery charge? When do we feed back to the grid? When do we buy power?</a:t>
            </a:r>
            <a:endParaRPr lang="de-DE" sz="1600" b="0" u="none" strike="noStrike">
              <a:solidFill>
                <a:srgbClr val="000000"/>
              </a:solidFill>
              <a:effectLst/>
              <a:uFillTx/>
              <a:latin typeface="Arial"/>
            </a:endParaRPr>
          </a:p>
        </p:txBody>
      </p:sp>
      <p:sp>
        <p:nvSpPr>
          <p:cNvPr id="17" name="Shape 2"/>
          <p:cNvSpPr/>
          <p:nvPr/>
        </p:nvSpPr>
        <p:spPr>
          <a:xfrm>
            <a:off x="457200" y="1554480"/>
            <a:ext cx="72360" cy="109656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8" name="Text 3"/>
          <p:cNvSpPr/>
          <p:nvPr/>
        </p:nvSpPr>
        <p:spPr>
          <a:xfrm>
            <a:off x="685800" y="1554480"/>
            <a:ext cx="31996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1E2761"/>
                </a:solidFill>
                <a:effectLst/>
                <a:uFillTx/>
                <a:latin typeface="Calibri"/>
                <a:ea typeface="Calibri"/>
              </a:rPr>
              <a:t>30</a:t>
            </a:r>
            <a:endParaRPr lang="de-DE" sz="4400" b="0" u="none" strike="noStrike">
              <a:solidFill>
                <a:srgbClr val="000000"/>
              </a:solidFill>
              <a:effectLst/>
              <a:uFillTx/>
              <a:latin typeface="Arial"/>
            </a:endParaRPr>
          </a:p>
        </p:txBody>
      </p:sp>
      <p:sp>
        <p:nvSpPr>
          <p:cNvPr id="19" name="Text 4"/>
          <p:cNvSpPr/>
          <p:nvPr/>
        </p:nvSpPr>
        <p:spPr>
          <a:xfrm>
            <a:off x="685800" y="219456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36454F"/>
                </a:solidFill>
                <a:effectLst/>
                <a:uFillTx/>
                <a:latin typeface="Calibri"/>
                <a:ea typeface="Calibri"/>
              </a:rPr>
              <a:t>days</a:t>
            </a:r>
            <a:endParaRPr lang="de-DE" sz="1400" b="0" u="none" strike="noStrike">
              <a:solidFill>
                <a:srgbClr val="000000"/>
              </a:solidFill>
              <a:effectLst/>
              <a:uFillTx/>
              <a:latin typeface="Arial"/>
            </a:endParaRPr>
          </a:p>
        </p:txBody>
      </p:sp>
      <p:sp>
        <p:nvSpPr>
          <p:cNvPr id="20" name="Text 5"/>
          <p:cNvSpPr/>
          <p:nvPr/>
        </p:nvSpPr>
        <p:spPr>
          <a:xfrm>
            <a:off x="685800" y="246888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6454F"/>
                </a:solidFill>
                <a:effectLst/>
                <a:uFillTx/>
                <a:latin typeface="Calibri"/>
                <a:ea typeface="Calibri"/>
              </a:rPr>
              <a:t>simulated billing period</a:t>
            </a:r>
            <a:endParaRPr lang="de-DE" sz="1200" b="0" u="none" strike="noStrike">
              <a:solidFill>
                <a:srgbClr val="000000"/>
              </a:solidFill>
              <a:effectLst/>
              <a:uFillTx/>
              <a:latin typeface="Arial"/>
            </a:endParaRPr>
          </a:p>
        </p:txBody>
      </p:sp>
      <p:sp>
        <p:nvSpPr>
          <p:cNvPr id="21" name="Shape 6"/>
          <p:cNvSpPr/>
          <p:nvPr/>
        </p:nvSpPr>
        <p:spPr>
          <a:xfrm>
            <a:off x="457200" y="2926080"/>
            <a:ext cx="72360" cy="109656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2" name="Text 7"/>
          <p:cNvSpPr/>
          <p:nvPr/>
        </p:nvSpPr>
        <p:spPr>
          <a:xfrm>
            <a:off x="685800" y="2926080"/>
            <a:ext cx="31996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1E2761"/>
                </a:solidFill>
                <a:effectLst/>
                <a:uFillTx/>
                <a:latin typeface="Calibri"/>
                <a:ea typeface="Calibri"/>
              </a:rPr>
              <a:t>2,880</a:t>
            </a:r>
            <a:endParaRPr lang="de-DE" sz="4400" b="0" u="none" strike="noStrike">
              <a:solidFill>
                <a:srgbClr val="000000"/>
              </a:solidFill>
              <a:effectLst/>
              <a:uFillTx/>
              <a:latin typeface="Arial"/>
            </a:endParaRPr>
          </a:p>
        </p:txBody>
      </p:sp>
      <p:sp>
        <p:nvSpPr>
          <p:cNvPr id="23" name="Text 8"/>
          <p:cNvSpPr/>
          <p:nvPr/>
        </p:nvSpPr>
        <p:spPr>
          <a:xfrm>
            <a:off x="685800" y="356616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36454F"/>
                </a:solidFill>
                <a:effectLst/>
                <a:uFillTx/>
                <a:latin typeface="Calibri"/>
                <a:ea typeface="Calibri"/>
              </a:rPr>
              <a:t>15-min slots</a:t>
            </a:r>
            <a:endParaRPr lang="de-DE" sz="1400" b="0" u="none" strike="noStrike">
              <a:solidFill>
                <a:srgbClr val="000000"/>
              </a:solidFill>
              <a:effectLst/>
              <a:uFillTx/>
              <a:latin typeface="Arial"/>
            </a:endParaRPr>
          </a:p>
        </p:txBody>
      </p:sp>
      <p:sp>
        <p:nvSpPr>
          <p:cNvPr id="24" name="Text 9"/>
          <p:cNvSpPr/>
          <p:nvPr/>
        </p:nvSpPr>
        <p:spPr>
          <a:xfrm>
            <a:off x="685800" y="384048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6454F"/>
                </a:solidFill>
                <a:effectLst/>
                <a:uFillTx/>
                <a:latin typeface="Calibri"/>
                <a:ea typeface="Calibri"/>
              </a:rPr>
              <a:t>dispatch decisions per month</a:t>
            </a:r>
            <a:endParaRPr lang="de-DE" sz="1200" b="0" u="none" strike="noStrike">
              <a:solidFill>
                <a:srgbClr val="000000"/>
              </a:solidFill>
              <a:effectLst/>
              <a:uFillTx/>
              <a:latin typeface="Arial"/>
            </a:endParaRPr>
          </a:p>
        </p:txBody>
      </p:sp>
      <p:sp>
        <p:nvSpPr>
          <p:cNvPr id="25" name="Shape 10"/>
          <p:cNvSpPr/>
          <p:nvPr/>
        </p:nvSpPr>
        <p:spPr>
          <a:xfrm>
            <a:off x="457200" y="4297680"/>
            <a:ext cx="72360" cy="109656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6" name="Text 11"/>
          <p:cNvSpPr/>
          <p:nvPr/>
        </p:nvSpPr>
        <p:spPr>
          <a:xfrm>
            <a:off x="685800" y="4297680"/>
            <a:ext cx="31996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1E2761"/>
                </a:solidFill>
                <a:effectLst/>
                <a:uFillTx/>
                <a:latin typeface="Calibri"/>
                <a:ea typeface="Calibri"/>
              </a:rPr>
              <a:t>$14,802</a:t>
            </a:r>
            <a:endParaRPr lang="de-DE" sz="4400" b="0" u="none" strike="noStrike">
              <a:solidFill>
                <a:srgbClr val="000000"/>
              </a:solidFill>
              <a:effectLst/>
              <a:uFillTx/>
              <a:latin typeface="Arial"/>
            </a:endParaRPr>
          </a:p>
        </p:txBody>
      </p:sp>
      <p:sp>
        <p:nvSpPr>
          <p:cNvPr id="27" name="Text 12"/>
          <p:cNvSpPr/>
          <p:nvPr/>
        </p:nvSpPr>
        <p:spPr>
          <a:xfrm>
            <a:off x="685800" y="493776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36454F"/>
                </a:solidFill>
                <a:effectLst/>
                <a:uFillTx/>
                <a:latin typeface="Calibri"/>
                <a:ea typeface="Calibri"/>
              </a:rPr>
              <a:t>USD/month</a:t>
            </a:r>
            <a:endParaRPr lang="de-DE" sz="1400" b="0" u="none" strike="noStrike">
              <a:solidFill>
                <a:srgbClr val="000000"/>
              </a:solidFill>
              <a:effectLst/>
              <a:uFillTx/>
              <a:latin typeface="Arial"/>
            </a:endParaRPr>
          </a:p>
        </p:txBody>
      </p:sp>
      <p:sp>
        <p:nvSpPr>
          <p:cNvPr id="28" name="Text 13"/>
          <p:cNvSpPr/>
          <p:nvPr/>
        </p:nvSpPr>
        <p:spPr>
          <a:xfrm>
            <a:off x="685800" y="5212080"/>
            <a:ext cx="3199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6454F"/>
                </a:solidFill>
                <a:effectLst/>
                <a:uFillTx/>
                <a:latin typeface="Calibri"/>
                <a:ea typeface="Calibri"/>
              </a:rPr>
              <a:t>optimized electricity cost (baseline)</a:t>
            </a:r>
            <a:endParaRPr lang="de-DE" sz="1200" b="0" u="none" strike="noStrike">
              <a:solidFill>
                <a:srgbClr val="000000"/>
              </a:solidFill>
              <a:effectLst/>
              <a:uFillTx/>
              <a:latin typeface="Arial"/>
            </a:endParaRPr>
          </a:p>
        </p:txBody>
      </p:sp>
      <p:sp>
        <p:nvSpPr>
          <p:cNvPr id="29" name="Text 14"/>
          <p:cNvSpPr/>
          <p:nvPr/>
        </p:nvSpPr>
        <p:spPr>
          <a:xfrm>
            <a:off x="5029200" y="1554480"/>
            <a:ext cx="64000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E2761"/>
                </a:solidFill>
                <a:effectLst/>
                <a:uFillTx/>
                <a:latin typeface="Calibri"/>
                <a:ea typeface="Calibri"/>
              </a:rPr>
              <a:t>Microgrid in New Mexico</a:t>
            </a:r>
            <a:endParaRPr lang="de-DE" sz="2000" b="0" u="none" strike="noStrike">
              <a:solidFill>
                <a:srgbClr val="000000"/>
              </a:solidFill>
              <a:effectLst/>
              <a:uFillTx/>
              <a:latin typeface="Arial"/>
            </a:endParaRPr>
          </a:p>
        </p:txBody>
      </p:sp>
      <p:sp>
        <p:nvSpPr>
          <p:cNvPr id="30" name="Text 15"/>
          <p:cNvSpPr/>
          <p:nvPr/>
        </p:nvSpPr>
        <p:spPr>
          <a:xfrm>
            <a:off x="5029200" y="2103120"/>
            <a:ext cx="6674400" cy="36568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00"/>
              </a:spcAft>
              <a:tabLst>
                <a:tab pos="0" algn="l"/>
              </a:tabLst>
            </a:pPr>
            <a:r>
              <a:rPr lang="en-US" sz="1400" b="1" u="none" strike="noStrike">
                <a:solidFill>
                  <a:srgbClr val="36454F"/>
                </a:solidFill>
                <a:effectLst/>
                <a:uFillTx/>
                <a:latin typeface="Calibri"/>
                <a:ea typeface="Calibri"/>
              </a:rPr>
              <a:t>Components: </a:t>
            </a:r>
            <a:r>
              <a:rPr lang="en-US" sz="1400" b="0" u="none" strike="noStrike">
                <a:solidFill>
                  <a:srgbClr val="36454F"/>
                </a:solidFill>
                <a:effectLst/>
                <a:uFillTx/>
                <a:latin typeface="Calibri"/>
                <a:ea typeface="Calibri"/>
              </a:rPr>
              <a:t>utility grid, photovoltaic, battery (BESS), load</a:t>
            </a:r>
            <a:endParaRPr lang="de-DE" sz="1400" b="0" u="none" strike="noStrike">
              <a:solidFill>
                <a:srgbClr val="000000"/>
              </a:solidFill>
              <a:effectLst/>
              <a:uFillTx/>
              <a:latin typeface="Arial"/>
            </a:endParaRPr>
          </a:p>
          <a:p>
            <a:pPr defTabSz="914400">
              <a:lnSpc>
                <a:spcPct val="100000"/>
              </a:lnSpc>
              <a:spcAft>
                <a:spcPts val="400"/>
              </a:spcAft>
              <a:tabLst>
                <a:tab pos="0" algn="l"/>
              </a:tabLst>
            </a:pPr>
            <a:endParaRPr lang="de-DE" sz="1400" b="0" u="none" strike="noStrike">
              <a:solidFill>
                <a:srgbClr val="000000"/>
              </a:solidFill>
              <a:effectLst/>
              <a:uFillTx/>
              <a:latin typeface="Arial"/>
            </a:endParaRPr>
          </a:p>
          <a:p>
            <a:pPr defTabSz="914400">
              <a:lnSpc>
                <a:spcPct val="100000"/>
              </a:lnSpc>
              <a:spcAft>
                <a:spcPts val="400"/>
              </a:spcAft>
              <a:tabLst>
                <a:tab pos="0" algn="l"/>
              </a:tabLst>
            </a:pPr>
            <a:r>
              <a:rPr lang="en-US" sz="1400" b="1" u="none" strike="noStrike">
                <a:solidFill>
                  <a:srgbClr val="36454F"/>
                </a:solidFill>
                <a:effectLst/>
                <a:uFillTx/>
                <a:latin typeface="Calibri"/>
                <a:ea typeface="Calibri"/>
              </a:rPr>
              <a:t>Objectives: </a:t>
            </a:r>
            <a:r>
              <a:rPr lang="en-US" sz="1400" b="0" u="none" strike="noStrike">
                <a:solidFill>
                  <a:srgbClr val="36454F"/>
                </a:solidFill>
                <a:effectLst/>
                <a:uFillTx/>
                <a:latin typeface="Calibri"/>
                <a:ea typeface="Calibri"/>
              </a:rPr>
              <a:t>minimize energy cost · minimize demand charge · maximize resiliency revenue</a:t>
            </a:r>
            <a:endParaRPr lang="de-DE" sz="1400" b="0" u="none" strike="noStrike">
              <a:solidFill>
                <a:srgbClr val="000000"/>
              </a:solidFill>
              <a:effectLst/>
              <a:uFillTx/>
              <a:latin typeface="Arial"/>
            </a:endParaRPr>
          </a:p>
          <a:p>
            <a:pPr defTabSz="914400">
              <a:lnSpc>
                <a:spcPct val="100000"/>
              </a:lnSpc>
              <a:spcAft>
                <a:spcPts val="400"/>
              </a:spcAft>
              <a:tabLst>
                <a:tab pos="0" algn="l"/>
              </a:tabLst>
            </a:pPr>
            <a:endParaRPr lang="de-DE" sz="1400" b="0" u="none" strike="noStrike">
              <a:solidFill>
                <a:srgbClr val="000000"/>
              </a:solidFill>
              <a:effectLst/>
              <a:uFillTx/>
              <a:latin typeface="Arial"/>
            </a:endParaRPr>
          </a:p>
          <a:p>
            <a:pPr defTabSz="914400">
              <a:lnSpc>
                <a:spcPct val="100000"/>
              </a:lnSpc>
              <a:spcAft>
                <a:spcPts val="400"/>
              </a:spcAft>
              <a:tabLst>
                <a:tab pos="0" algn="l"/>
              </a:tabLst>
            </a:pPr>
            <a:r>
              <a:rPr lang="en-US" sz="1400" b="1" u="none" strike="noStrike">
                <a:solidFill>
                  <a:srgbClr val="36454F"/>
                </a:solidFill>
                <a:effectLst/>
                <a:uFillTx/>
                <a:latin typeface="Calibri"/>
                <a:ea typeface="Calibri"/>
              </a:rPr>
              <a:t>Challenges: </a:t>
            </a:r>
            <a:r>
              <a:rPr lang="en-US" sz="1400" b="0" u="none" strike="noStrike">
                <a:solidFill>
                  <a:srgbClr val="36454F"/>
                </a:solidFill>
                <a:effectLst/>
                <a:uFillTx/>
                <a:latin typeface="Calibri"/>
                <a:ea typeface="Calibri"/>
              </a:rPr>
              <a:t>Time-of-Use tariff (×8 price spread) · a single demand peak determines the monthly bill · PV and load forecasts are uncertain</a:t>
            </a:r>
            <a:endParaRPr lang="de-DE" sz="1400" b="0" u="none" strike="noStrike">
              <a:solidFill>
                <a:srgbClr val="000000"/>
              </a:solidFill>
              <a:effectLst/>
              <a:uFillTx/>
              <a:latin typeface="Arial"/>
            </a:endParaRPr>
          </a:p>
        </p:txBody>
      </p:sp>
      <p:sp>
        <p:nvSpPr>
          <p:cNvPr id="31" name="Text 16"/>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2/12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Our Approach: Two Solvers, One Problem</a:t>
            </a:r>
            <a:endParaRPr lang="de-DE" sz="3200" b="0" u="none" strike="noStrike">
              <a:solidFill>
                <a:srgbClr val="000000"/>
              </a:solidFill>
              <a:effectLst/>
              <a:uFillTx/>
              <a:latin typeface="Arial"/>
            </a:endParaRPr>
          </a:p>
        </p:txBody>
      </p:sp>
      <p:sp>
        <p:nvSpPr>
          <p:cNvPr id="33"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Same data, same problem, two solver families — a fair comparison of quality and runtime</a:t>
            </a:r>
            <a:endParaRPr lang="de-DE" sz="1600" b="0" u="none" strike="noStrike">
              <a:solidFill>
                <a:srgbClr val="000000"/>
              </a:solidFill>
              <a:effectLst/>
              <a:uFillTx/>
              <a:latin typeface="Arial"/>
            </a:endParaRPr>
          </a:p>
        </p:txBody>
      </p:sp>
      <p:sp>
        <p:nvSpPr>
          <p:cNvPr id="34" name="Shape 2"/>
          <p:cNvSpPr/>
          <p:nvPr/>
        </p:nvSpPr>
        <p:spPr>
          <a:xfrm>
            <a:off x="4846320" y="1645920"/>
            <a:ext cx="2468160" cy="822240"/>
          </a:xfrm>
          <a:prstGeom prst="roundRect">
            <a:avLst>
              <a:gd name="adj" fmla="val 11111"/>
            </a:avLst>
          </a:prstGeom>
          <a:solidFill>
            <a:srgbClr val="36454F"/>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5" name="Text 3"/>
          <p:cNvSpPr/>
          <p:nvPr/>
        </p:nvSpPr>
        <p:spPr>
          <a:xfrm>
            <a:off x="4846320" y="1645920"/>
            <a:ext cx="246816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rPr>
              <a:t>Data Pipeline</a:t>
            </a:r>
            <a:endParaRPr lang="de-DE" sz="1600" b="0" u="none" strike="noStrike">
              <a:solidFill>
                <a:srgbClr val="000000"/>
              </a:solidFill>
              <a:effectLst/>
              <a:uFillTx/>
              <a:latin typeface="Arial"/>
            </a:endParaRPr>
          </a:p>
        </p:txBody>
      </p:sp>
      <p:sp>
        <p:nvSpPr>
          <p:cNvPr id="36" name="Text 4"/>
          <p:cNvSpPr/>
          <p:nvPr/>
        </p:nvSpPr>
        <p:spPr>
          <a:xfrm>
            <a:off x="4846320" y="2057400"/>
            <a:ext cx="24681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CADCFC"/>
                </a:solidFill>
                <a:effectLst/>
                <a:uFillTx/>
                <a:latin typeface="Calibri"/>
              </a:rPr>
              <a:t>all_data.csv  ·  30 days  ·  15 min</a:t>
            </a:r>
            <a:endParaRPr lang="de-DE" sz="1100" b="0" u="none" strike="noStrike">
              <a:solidFill>
                <a:srgbClr val="000000"/>
              </a:solidFill>
              <a:effectLst/>
              <a:uFillTx/>
              <a:latin typeface="Arial"/>
            </a:endParaRPr>
          </a:p>
        </p:txBody>
      </p:sp>
      <p:sp>
        <p:nvSpPr>
          <p:cNvPr id="37" name="Shape 5"/>
          <p:cNvSpPr/>
          <p:nvPr/>
        </p:nvSpPr>
        <p:spPr>
          <a:xfrm flipH="1">
            <a:off x="3794760" y="2468880"/>
            <a:ext cx="2286000" cy="822960"/>
          </a:xfrm>
          <a:prstGeom prst="line">
            <a:avLst/>
          </a:prstGeom>
          <a:ln w="25560">
            <a:solidFill>
              <a:srgbClr val="36454F"/>
            </a:solidFill>
            <a:round/>
            <a:tailEnd len="med" type="triangle" w="med"/>
          </a:ln>
        </p:spPr>
        <p:style>
          <a:lnRef idx="0"/>
          <a:fillRef idx="0"/>
          <a:effectRef idx="0"/>
          <a:fontRef idx="minor"/>
        </p:style>
        <p:txBody>
          <a:bodyPr lIns="90000" tIns="45000" rIns="90000" bIns="45000" anchor="t" anchorCtr="1">
            <a:noAutofit/>
          </a:bodyPr>
          <a:p>
            <a:endParaRPr lang="de-DE" sz="1800" b="0" u="none" strike="noStrike">
              <a:solidFill>
                <a:srgbClr val="000000"/>
              </a:solidFill>
              <a:effectLst/>
              <a:uFillTx/>
              <a:latin typeface="Arial"/>
            </a:endParaRPr>
          </a:p>
        </p:txBody>
      </p:sp>
      <p:sp>
        <p:nvSpPr>
          <p:cNvPr id="38" name="Shape 6"/>
          <p:cNvSpPr/>
          <p:nvPr/>
        </p:nvSpPr>
        <p:spPr>
          <a:xfrm>
            <a:off x="6080760" y="2468880"/>
            <a:ext cx="2286000" cy="822960"/>
          </a:xfrm>
          <a:prstGeom prst="line">
            <a:avLst/>
          </a:prstGeom>
          <a:ln w="25560">
            <a:solidFill>
              <a:srgbClr val="36454F"/>
            </a:solidFill>
            <a:round/>
            <a:tailEnd len="med" type="triangle" w="med"/>
          </a:ln>
        </p:spPr>
        <p:style>
          <a:lnRef idx="0"/>
          <a:fillRef idx="0"/>
          <a:effectRef idx="0"/>
          <a:fontRef idx="minor"/>
        </p:style>
        <p:txBody>
          <a:bodyPr lIns="90000" tIns="45000" rIns="90000" bIns="45000" anchor="t" anchorCtr="1">
            <a:noAutofit/>
          </a:bodyPr>
          <a:p>
            <a:endParaRPr lang="de-DE" sz="1800" b="0" u="none" strike="noStrike">
              <a:solidFill>
                <a:srgbClr val="000000"/>
              </a:solidFill>
              <a:effectLst/>
              <a:uFillTx/>
              <a:latin typeface="Arial"/>
            </a:endParaRPr>
          </a:p>
        </p:txBody>
      </p:sp>
      <p:sp>
        <p:nvSpPr>
          <p:cNvPr id="39" name="Shape 7"/>
          <p:cNvSpPr/>
          <p:nvPr/>
        </p:nvSpPr>
        <p:spPr>
          <a:xfrm>
            <a:off x="1645920" y="3291840"/>
            <a:ext cx="3291120" cy="1279440"/>
          </a:xfrm>
          <a:prstGeom prst="roundRect">
            <a:avLst>
              <a:gd name="adj" fmla="val 7143"/>
            </a:avLst>
          </a:prstGeom>
          <a:solidFill>
            <a:srgbClr val="1E276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0" name="Text 8"/>
          <p:cNvSpPr/>
          <p:nvPr/>
        </p:nvSpPr>
        <p:spPr>
          <a:xfrm>
            <a:off x="1645920" y="3383280"/>
            <a:ext cx="32911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rPr>
              <a:t>Classical MILP Solver</a:t>
            </a:r>
            <a:endParaRPr lang="de-DE" sz="1600" b="0" u="none" strike="noStrike">
              <a:solidFill>
                <a:srgbClr val="000000"/>
              </a:solidFill>
              <a:effectLst/>
              <a:uFillTx/>
              <a:latin typeface="Arial"/>
            </a:endParaRPr>
          </a:p>
        </p:txBody>
      </p:sp>
      <p:sp>
        <p:nvSpPr>
          <p:cNvPr id="41" name="Text 9"/>
          <p:cNvSpPr/>
          <p:nvPr/>
        </p:nvSpPr>
        <p:spPr>
          <a:xfrm>
            <a:off x="1645920" y="3794760"/>
            <a:ext cx="3291120" cy="730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CADCFC"/>
                </a:solidFill>
                <a:effectLst/>
                <a:uFillTx/>
                <a:latin typeface="Calibri"/>
              </a:rPr>
              <a:t>Gurobi (gurobipy)</a:t>
            </a:r>
            <a:endParaRPr lang="de-DE"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CADCFC"/>
                </a:solidFill>
                <a:effectLst/>
                <a:uFillTx/>
                <a:latin typeface="Calibri"/>
              </a:rPr>
              <a:t>Branch-and-Bound</a:t>
            </a:r>
            <a:endParaRPr lang="de-DE" sz="1200" b="0" u="none" strike="noStrike">
              <a:solidFill>
                <a:srgbClr val="000000"/>
              </a:solidFill>
              <a:effectLst/>
              <a:uFillTx/>
              <a:latin typeface="Arial"/>
            </a:endParaRPr>
          </a:p>
        </p:txBody>
      </p:sp>
      <p:sp>
        <p:nvSpPr>
          <p:cNvPr id="42" name="Shape 10"/>
          <p:cNvSpPr/>
          <p:nvPr/>
        </p:nvSpPr>
        <p:spPr>
          <a:xfrm>
            <a:off x="7223760" y="3291840"/>
            <a:ext cx="3291120" cy="1279440"/>
          </a:xfrm>
          <a:prstGeom prst="roundRect">
            <a:avLst>
              <a:gd name="adj" fmla="val 7143"/>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3" name="Text 11"/>
          <p:cNvSpPr/>
          <p:nvPr/>
        </p:nvSpPr>
        <p:spPr>
          <a:xfrm>
            <a:off x="7223760" y="3383280"/>
            <a:ext cx="32911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rPr>
              <a:t>Quantum Solver</a:t>
            </a:r>
            <a:endParaRPr lang="de-DE" sz="1600" b="0" u="none" strike="noStrike">
              <a:solidFill>
                <a:srgbClr val="000000"/>
              </a:solidFill>
              <a:effectLst/>
              <a:uFillTx/>
              <a:latin typeface="Arial"/>
            </a:endParaRPr>
          </a:p>
        </p:txBody>
      </p:sp>
      <p:sp>
        <p:nvSpPr>
          <p:cNvPr id="44" name="Text 12"/>
          <p:cNvSpPr/>
          <p:nvPr/>
        </p:nvSpPr>
        <p:spPr>
          <a:xfrm>
            <a:off x="7223760" y="3794760"/>
            <a:ext cx="3291120" cy="730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FFFFFF"/>
                </a:solidFill>
                <a:effectLst/>
                <a:uFillTx/>
                <a:latin typeface="Calibri"/>
              </a:rPr>
              <a:t>QUBO formulation</a:t>
            </a:r>
            <a:endParaRPr lang="de-DE"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FFFFFF"/>
                </a:solidFill>
                <a:effectLst/>
                <a:uFillTx/>
                <a:latin typeface="Calibri"/>
              </a:rPr>
              <a:t>D-Wave Quantum Annealing</a:t>
            </a:r>
            <a:endParaRPr lang="de-DE" sz="1200" b="0" u="none" strike="noStrike">
              <a:solidFill>
                <a:srgbClr val="000000"/>
              </a:solidFill>
              <a:effectLst/>
              <a:uFillTx/>
              <a:latin typeface="Arial"/>
            </a:endParaRPr>
          </a:p>
        </p:txBody>
      </p:sp>
      <p:sp>
        <p:nvSpPr>
          <p:cNvPr id="45" name="Shape 13"/>
          <p:cNvSpPr/>
          <p:nvPr/>
        </p:nvSpPr>
        <p:spPr>
          <a:xfrm>
            <a:off x="3291840" y="4572000"/>
            <a:ext cx="2651760" cy="731520"/>
          </a:xfrm>
          <a:prstGeom prst="line">
            <a:avLst/>
          </a:prstGeom>
          <a:ln w="25560">
            <a:solidFill>
              <a:srgbClr val="36454F"/>
            </a:solidFill>
            <a:round/>
            <a:tailEnd len="med" type="triangle" w="med"/>
          </a:ln>
        </p:spPr>
        <p:style>
          <a:lnRef idx="0"/>
          <a:fillRef idx="0"/>
          <a:effectRef idx="0"/>
          <a:fontRef idx="minor"/>
        </p:style>
        <p:txBody>
          <a:bodyPr lIns="90000" tIns="45000" rIns="90000" bIns="45000" anchor="t" anchorCtr="1">
            <a:noAutofit/>
          </a:bodyPr>
          <a:p>
            <a:endParaRPr lang="de-DE" sz="1800" b="0" u="none" strike="noStrike">
              <a:solidFill>
                <a:srgbClr val="000000"/>
              </a:solidFill>
              <a:effectLst/>
              <a:uFillTx/>
              <a:latin typeface="Arial"/>
            </a:endParaRPr>
          </a:p>
        </p:txBody>
      </p:sp>
      <p:sp>
        <p:nvSpPr>
          <p:cNvPr id="46" name="Shape 14"/>
          <p:cNvSpPr/>
          <p:nvPr/>
        </p:nvSpPr>
        <p:spPr>
          <a:xfrm flipH="1">
            <a:off x="6217920" y="4572000"/>
            <a:ext cx="2651760" cy="731520"/>
          </a:xfrm>
          <a:prstGeom prst="line">
            <a:avLst/>
          </a:prstGeom>
          <a:ln w="25560">
            <a:solidFill>
              <a:srgbClr val="36454F"/>
            </a:solidFill>
            <a:round/>
            <a:tailEnd len="med" type="triangle" w="med"/>
          </a:ln>
        </p:spPr>
        <p:style>
          <a:lnRef idx="0"/>
          <a:fillRef idx="0"/>
          <a:effectRef idx="0"/>
          <a:fontRef idx="minor"/>
        </p:style>
        <p:txBody>
          <a:bodyPr lIns="90000" tIns="45000" rIns="90000" bIns="45000" anchor="t" anchorCtr="1">
            <a:noAutofit/>
          </a:bodyPr>
          <a:p>
            <a:endParaRPr lang="de-DE" sz="1800" b="0" u="none" strike="noStrike">
              <a:solidFill>
                <a:srgbClr val="000000"/>
              </a:solidFill>
              <a:effectLst/>
              <a:uFillTx/>
              <a:latin typeface="Arial"/>
            </a:endParaRPr>
          </a:p>
        </p:txBody>
      </p:sp>
      <p:sp>
        <p:nvSpPr>
          <p:cNvPr id="47" name="Shape 15"/>
          <p:cNvSpPr/>
          <p:nvPr/>
        </p:nvSpPr>
        <p:spPr>
          <a:xfrm>
            <a:off x="4846320" y="5303520"/>
            <a:ext cx="2468160" cy="822240"/>
          </a:xfrm>
          <a:prstGeom prst="roundRect">
            <a:avLst>
              <a:gd name="adj" fmla="val 11111"/>
            </a:avLst>
          </a:prstGeom>
          <a:solidFill>
            <a:srgbClr val="36454F"/>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8" name="Text 16"/>
          <p:cNvSpPr/>
          <p:nvPr/>
        </p:nvSpPr>
        <p:spPr>
          <a:xfrm>
            <a:off x="4846320" y="5349240"/>
            <a:ext cx="246816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rPr>
              <a:t>Comparison</a:t>
            </a:r>
            <a:endParaRPr lang="de-DE" sz="1600" b="0" u="none" strike="noStrike">
              <a:solidFill>
                <a:srgbClr val="000000"/>
              </a:solidFill>
              <a:effectLst/>
              <a:uFillTx/>
              <a:latin typeface="Arial"/>
            </a:endParaRPr>
          </a:p>
        </p:txBody>
      </p:sp>
      <p:sp>
        <p:nvSpPr>
          <p:cNvPr id="49" name="Text 17"/>
          <p:cNvSpPr/>
          <p:nvPr/>
        </p:nvSpPr>
        <p:spPr>
          <a:xfrm>
            <a:off x="4846320" y="5760720"/>
            <a:ext cx="24681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CADCFC"/>
                </a:solidFill>
                <a:effectLst/>
                <a:uFillTx/>
                <a:latin typeface="Calibri"/>
              </a:rPr>
              <a:t>Approximation Ratio  ·  Runtime</a:t>
            </a:r>
            <a:endParaRPr lang="de-DE" sz="1100" b="0" u="none" strike="noStrike">
              <a:solidFill>
                <a:srgbClr val="000000"/>
              </a:solidFill>
              <a:effectLst/>
              <a:uFillTx/>
              <a:latin typeface="Arial"/>
            </a:endParaRPr>
          </a:p>
        </p:txBody>
      </p:sp>
      <p:sp>
        <p:nvSpPr>
          <p:cNvPr id="50" name="Text 18"/>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3/12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Step 1: Data Foundation</a:t>
            </a:r>
            <a:endParaRPr lang="de-DE" sz="3200" b="0" u="none" strike="noStrike">
              <a:solidFill>
                <a:srgbClr val="000000"/>
              </a:solidFill>
              <a:effectLst/>
              <a:uFillTx/>
              <a:latin typeface="Arial"/>
            </a:endParaRPr>
          </a:p>
        </p:txBody>
      </p:sp>
      <p:sp>
        <p:nvSpPr>
          <p:cNvPr id="52"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Synthetic 30-day dataset at 15-min resolution — PV, load, tariff and grid availability</a:t>
            </a:r>
            <a:endParaRPr lang="de-DE" sz="1600" b="0" u="none" strike="noStrike">
              <a:solidFill>
                <a:srgbClr val="000000"/>
              </a:solidFill>
              <a:effectLst/>
              <a:uFillTx/>
              <a:latin typeface="Arial"/>
            </a:endParaRPr>
          </a:p>
        </p:txBody>
      </p:sp>
      <p:pic>
        <p:nvPicPr>
          <p:cNvPr id="53" name="Image 0" descr="/home/claude/deck/figures/fig_inputs_overview.png"/>
          <p:cNvPicPr/>
          <p:nvPr/>
        </p:nvPicPr>
        <p:blipFill>
          <a:blip r:embed="rId1"/>
          <a:stretch/>
        </p:blipFill>
        <p:spPr>
          <a:xfrm>
            <a:off x="548640" y="1463040"/>
            <a:ext cx="5732280" cy="4754160"/>
          </a:xfrm>
          <a:prstGeom prst="rect">
            <a:avLst/>
          </a:prstGeom>
          <a:noFill/>
          <a:ln w="0">
            <a:noFill/>
          </a:ln>
        </p:spPr>
      </p:pic>
      <p:sp>
        <p:nvSpPr>
          <p:cNvPr id="54" name="Text 2"/>
          <p:cNvSpPr/>
          <p:nvPr/>
        </p:nvSpPr>
        <p:spPr>
          <a:xfrm>
            <a:off x="6555960" y="1554480"/>
            <a:ext cx="51476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rPr>
              <a:t>Four Inputs</a:t>
            </a:r>
            <a:endParaRPr lang="de-DE" sz="1800" b="0" u="none" strike="noStrike">
              <a:solidFill>
                <a:srgbClr val="000000"/>
              </a:solidFill>
              <a:effectLst/>
              <a:uFillTx/>
              <a:latin typeface="Arial"/>
            </a:endParaRPr>
          </a:p>
        </p:txBody>
      </p:sp>
      <p:sp>
        <p:nvSpPr>
          <p:cNvPr id="55" name="Text 3"/>
          <p:cNvSpPr/>
          <p:nvPr/>
        </p:nvSpPr>
        <p:spPr>
          <a:xfrm>
            <a:off x="6555960" y="2011680"/>
            <a:ext cx="5147640" cy="36568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1300" b="1" u="none" strike="noStrike">
                <a:solidFill>
                  <a:srgbClr val="264653"/>
                </a:solidFill>
                <a:effectLst/>
                <a:uFillTx/>
                <a:latin typeface="Calibri"/>
              </a:rPr>
              <a:t>PV Generation</a:t>
            </a:r>
            <a:r>
              <a:rPr lang="en-US" sz="1300" b="0" u="none" strike="noStrike">
                <a:solidFill>
                  <a:srgbClr val="36454F"/>
                </a:solidFill>
                <a:effectLst/>
                <a:uFillTx/>
                <a:latin typeface="Calibri"/>
              </a:rPr>
              <a:t>  via pvlib + PVGIS TMY, 500 kWp</a:t>
            </a:r>
            <a:endParaRPr lang="de-DE" sz="1300" b="0" u="none" strike="noStrike">
              <a:solidFill>
                <a:srgbClr val="000000"/>
              </a:solidFill>
              <a:effectLst/>
              <a:uFillTx/>
              <a:latin typeface="Arial"/>
            </a:endParaRPr>
          </a:p>
          <a:p>
            <a:pPr defTabSz="914400">
              <a:lnSpc>
                <a:spcPct val="100000"/>
              </a:lnSpc>
              <a:spcAft>
                <a:spcPts val="201"/>
              </a:spcAft>
              <a:tabLst>
                <a:tab pos="0" algn="l"/>
              </a:tabLst>
            </a:pPr>
            <a:endParaRPr lang="de-DE" sz="1300" b="0" u="none" strike="noStrike">
              <a:solidFill>
                <a:srgbClr val="000000"/>
              </a:solidFill>
              <a:effectLst/>
              <a:uFillTx/>
              <a:latin typeface="Arial"/>
            </a:endParaRPr>
          </a:p>
          <a:p>
            <a:pPr defTabSz="914400">
              <a:lnSpc>
                <a:spcPct val="100000"/>
              </a:lnSpc>
              <a:spcAft>
                <a:spcPts val="201"/>
              </a:spcAft>
              <a:tabLst>
                <a:tab pos="0" algn="l"/>
              </a:tabLst>
            </a:pPr>
            <a:r>
              <a:rPr lang="en-US" sz="1300" b="1" u="none" strike="noStrike">
                <a:solidFill>
                  <a:srgbClr val="36454F"/>
                </a:solidFill>
                <a:effectLst/>
                <a:uFillTx/>
                <a:latin typeface="Calibri"/>
              </a:rPr>
              <a:t>Load</a:t>
            </a:r>
            <a:r>
              <a:rPr lang="en-US" sz="1300" b="0" u="none" strike="noStrike">
                <a:solidFill>
                  <a:srgbClr val="36454F"/>
                </a:solidFill>
                <a:effectLst/>
                <a:uFillTx/>
                <a:latin typeface="Calibri"/>
              </a:rPr>
              <a:t>  Commercial profile with morning + evening peaks</a:t>
            </a:r>
            <a:endParaRPr lang="de-DE" sz="1300" b="0" u="none" strike="noStrike">
              <a:solidFill>
                <a:srgbClr val="000000"/>
              </a:solidFill>
              <a:effectLst/>
              <a:uFillTx/>
              <a:latin typeface="Arial"/>
            </a:endParaRPr>
          </a:p>
          <a:p>
            <a:pPr defTabSz="914400">
              <a:lnSpc>
                <a:spcPct val="100000"/>
              </a:lnSpc>
              <a:spcAft>
                <a:spcPts val="201"/>
              </a:spcAft>
              <a:tabLst>
                <a:tab pos="0" algn="l"/>
              </a:tabLst>
            </a:pPr>
            <a:endParaRPr lang="de-DE" sz="1300" b="0" u="none" strike="noStrike">
              <a:solidFill>
                <a:srgbClr val="000000"/>
              </a:solidFill>
              <a:effectLst/>
              <a:uFillTx/>
              <a:latin typeface="Arial"/>
            </a:endParaRPr>
          </a:p>
          <a:p>
            <a:pPr defTabSz="914400">
              <a:lnSpc>
                <a:spcPct val="100000"/>
              </a:lnSpc>
              <a:spcAft>
                <a:spcPts val="201"/>
              </a:spcAft>
              <a:tabLst>
                <a:tab pos="0" algn="l"/>
              </a:tabLst>
            </a:pPr>
            <a:r>
              <a:rPr lang="en-US" sz="1300" b="1" u="none" strike="noStrike">
                <a:solidFill>
                  <a:srgbClr val="1E2761"/>
                </a:solidFill>
                <a:effectLst/>
                <a:uFillTx/>
                <a:latin typeface="Calibri"/>
              </a:rPr>
              <a:t>ToU Tariff</a:t>
            </a:r>
            <a:r>
              <a:rPr lang="en-US" sz="1300" b="0" u="none" strike="noStrike">
                <a:solidFill>
                  <a:srgbClr val="36454F"/>
                </a:solidFill>
                <a:effectLst/>
                <a:uFillTx/>
                <a:latin typeface="Calibri"/>
              </a:rPr>
              <a:t>  3 tiers: $0.05 · $0.15 · $0.40 / kWh</a:t>
            </a:r>
            <a:endParaRPr lang="de-DE" sz="1300" b="0" u="none" strike="noStrike">
              <a:solidFill>
                <a:srgbClr val="000000"/>
              </a:solidFill>
              <a:effectLst/>
              <a:uFillTx/>
              <a:latin typeface="Arial"/>
            </a:endParaRPr>
          </a:p>
          <a:p>
            <a:pPr defTabSz="914400">
              <a:lnSpc>
                <a:spcPct val="100000"/>
              </a:lnSpc>
              <a:spcAft>
                <a:spcPts val="201"/>
              </a:spcAft>
              <a:tabLst>
                <a:tab pos="0" algn="l"/>
              </a:tabLst>
            </a:pPr>
            <a:endParaRPr lang="de-DE" sz="1300" b="0" u="none" strike="noStrike">
              <a:solidFill>
                <a:srgbClr val="000000"/>
              </a:solidFill>
              <a:effectLst/>
              <a:uFillTx/>
              <a:latin typeface="Arial"/>
            </a:endParaRPr>
          </a:p>
          <a:p>
            <a:pPr defTabSz="914400">
              <a:lnSpc>
                <a:spcPct val="100000"/>
              </a:lnSpc>
              <a:spcAft>
                <a:spcPts val="201"/>
              </a:spcAft>
              <a:tabLst>
                <a:tab pos="0" algn="l"/>
              </a:tabLst>
            </a:pPr>
            <a:r>
              <a:rPr lang="en-US" sz="1300" b="1" u="none" strike="noStrike">
                <a:solidFill>
                  <a:srgbClr val="F96167"/>
                </a:solidFill>
                <a:effectLst/>
                <a:uFillTx/>
                <a:latin typeface="Calibri"/>
              </a:rPr>
              <a:t>Grid Availability</a:t>
            </a:r>
            <a:r>
              <a:rPr lang="en-US" sz="1300" b="0" u="none" strike="noStrike">
                <a:solidFill>
                  <a:srgbClr val="36454F"/>
                </a:solidFill>
                <a:effectLst/>
                <a:uFillTx/>
                <a:latin typeface="Calibri"/>
              </a:rPr>
              <a:t>  Bernoulli outages, p ≈ 0.5 %</a:t>
            </a:r>
            <a:endParaRPr lang="de-DE" sz="1300" b="0" u="none" strike="noStrike">
              <a:solidFill>
                <a:srgbClr val="000000"/>
              </a:solidFill>
              <a:effectLst/>
              <a:uFillTx/>
              <a:latin typeface="Arial"/>
            </a:endParaRPr>
          </a:p>
        </p:txBody>
      </p:sp>
      <p:sp>
        <p:nvSpPr>
          <p:cNvPr id="56" name="Text 4"/>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4/12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Step 2: Classical Solver — Deterministic</a:t>
            </a:r>
            <a:endParaRPr lang="de-DE" sz="3200" b="0" u="none" strike="noStrike">
              <a:solidFill>
                <a:srgbClr val="000000"/>
              </a:solidFill>
              <a:effectLst/>
              <a:uFillTx/>
              <a:latin typeface="Arial"/>
            </a:endParaRPr>
          </a:p>
        </p:txBody>
      </p:sp>
      <p:sp>
        <p:nvSpPr>
          <p:cNvPr id="58"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Gurobi finds the optimal charge/discharge strategy in 2 seconds</a:t>
            </a:r>
            <a:endParaRPr lang="de-DE" sz="1600" b="0" u="none" strike="noStrike">
              <a:solidFill>
                <a:srgbClr val="000000"/>
              </a:solidFill>
              <a:effectLst/>
              <a:uFillTx/>
              <a:latin typeface="Arial"/>
            </a:endParaRPr>
          </a:p>
        </p:txBody>
      </p:sp>
      <p:pic>
        <p:nvPicPr>
          <p:cNvPr id="59" name="Image 0" descr="/home/claude/deck/figures/fig_dispatch_48h.png"/>
          <p:cNvPicPr/>
          <p:nvPr/>
        </p:nvPicPr>
        <p:blipFill>
          <a:blip r:embed="rId1"/>
          <a:stretch/>
        </p:blipFill>
        <p:spPr>
          <a:xfrm>
            <a:off x="457200" y="1417320"/>
            <a:ext cx="8325000" cy="4114080"/>
          </a:xfrm>
          <a:prstGeom prst="rect">
            <a:avLst/>
          </a:prstGeom>
          <a:noFill/>
          <a:ln w="0">
            <a:noFill/>
          </a:ln>
        </p:spPr>
      </p:pic>
      <p:sp>
        <p:nvSpPr>
          <p:cNvPr id="60" name="Text 2"/>
          <p:cNvSpPr/>
          <p:nvPr/>
        </p:nvSpPr>
        <p:spPr>
          <a:xfrm>
            <a:off x="9057240" y="1554480"/>
            <a:ext cx="264636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E2761"/>
                </a:solidFill>
                <a:effectLst/>
                <a:uFillTx/>
                <a:latin typeface="Calibri"/>
              </a:rPr>
              <a:t>What the Solver Finds</a:t>
            </a:r>
            <a:endParaRPr lang="de-DE" sz="1800" b="0" u="none" strike="noStrike">
              <a:solidFill>
                <a:srgbClr val="000000"/>
              </a:solidFill>
              <a:effectLst/>
              <a:uFillTx/>
              <a:latin typeface="Arial"/>
            </a:endParaRPr>
          </a:p>
        </p:txBody>
      </p:sp>
      <p:sp>
        <p:nvSpPr>
          <p:cNvPr id="61" name="Text 3"/>
          <p:cNvSpPr/>
          <p:nvPr/>
        </p:nvSpPr>
        <p:spPr>
          <a:xfrm>
            <a:off x="9057240" y="2103120"/>
            <a:ext cx="2646360" cy="16452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300" b="1" u="none" strike="noStrike">
                <a:solidFill>
                  <a:srgbClr val="36454F"/>
                </a:solidFill>
                <a:effectLst/>
                <a:uFillTx/>
                <a:latin typeface="Calibri"/>
              </a:rPr>
              <a:t>Battery charges</a:t>
            </a:r>
            <a:r>
              <a:rPr lang="en-US" sz="1300" b="0" u="none" strike="noStrike">
                <a:solidFill>
                  <a:srgbClr val="36454F"/>
                </a:solidFill>
                <a:effectLst/>
                <a:uFillTx/>
                <a:latin typeface="Calibri"/>
              </a:rPr>
              <a:t> during off-peak tariff (nights, $0.05)</a:t>
            </a:r>
            <a:endParaRPr lang="de-DE" sz="1300" b="0" u="none" strike="noStrike">
              <a:solidFill>
                <a:srgbClr val="000000"/>
              </a:solidFill>
              <a:effectLst/>
              <a:uFillTx/>
              <a:latin typeface="Arial"/>
            </a:endParaRPr>
          </a:p>
          <a:p>
            <a:pPr defTabSz="914400">
              <a:lnSpc>
                <a:spcPct val="100000"/>
              </a:lnSpc>
              <a:spcAft>
                <a:spcPts val="300"/>
              </a:spcAft>
              <a:tabLst>
                <a:tab pos="0" algn="l"/>
              </a:tabLst>
            </a:pPr>
            <a:r>
              <a:rPr lang="en-US" sz="1300" b="1" u="none" strike="noStrike">
                <a:solidFill>
                  <a:srgbClr val="36454F"/>
                </a:solidFill>
                <a:effectLst/>
                <a:uFillTx/>
                <a:latin typeface="Calibri"/>
              </a:rPr>
              <a:t>Battery discharges</a:t>
            </a:r>
            <a:r>
              <a:rPr lang="en-US" sz="1300" b="0" u="none" strike="noStrike">
                <a:solidFill>
                  <a:srgbClr val="36454F"/>
                </a:solidFill>
                <a:effectLst/>
                <a:uFillTx/>
                <a:latin typeface="Calibri"/>
              </a:rPr>
              <a:t> during on-peak tariff (18:00–22:00, $0.40)</a:t>
            </a:r>
            <a:endParaRPr lang="de-DE" sz="1300" b="0" u="none" strike="noStrike">
              <a:solidFill>
                <a:srgbClr val="000000"/>
              </a:solidFill>
              <a:effectLst/>
              <a:uFillTx/>
              <a:latin typeface="Arial"/>
            </a:endParaRPr>
          </a:p>
          <a:p>
            <a:pPr defTabSz="914400">
              <a:lnSpc>
                <a:spcPct val="100000"/>
              </a:lnSpc>
              <a:spcAft>
                <a:spcPts val="300"/>
              </a:spcAft>
              <a:tabLst>
                <a:tab pos="0" algn="l"/>
              </a:tabLst>
            </a:pPr>
            <a:endParaRPr lang="de-DE" sz="1300" b="0" u="none" strike="noStrike">
              <a:solidFill>
                <a:srgbClr val="000000"/>
              </a:solidFill>
              <a:effectLst/>
              <a:uFillTx/>
              <a:latin typeface="Arial"/>
            </a:endParaRPr>
          </a:p>
          <a:p>
            <a:pPr defTabSz="914400">
              <a:lnSpc>
                <a:spcPct val="100000"/>
              </a:lnSpc>
              <a:spcAft>
                <a:spcPts val="300"/>
              </a:spcAft>
              <a:tabLst>
                <a:tab pos="0" algn="l"/>
              </a:tabLst>
            </a:pPr>
            <a:r>
              <a:rPr lang="en-US" sz="1300" b="0" i="1" u="none" strike="noStrike">
                <a:solidFill>
                  <a:srgbClr val="36454F"/>
                </a:solidFill>
                <a:effectLst/>
                <a:uFillTx/>
                <a:latin typeface="Calibri"/>
              </a:rPr>
              <a:t>= classical ToU arbitrage, visually validated.</a:t>
            </a:r>
            <a:endParaRPr lang="de-DE" sz="1300" b="0" u="none" strike="noStrike">
              <a:solidFill>
                <a:srgbClr val="000000"/>
              </a:solidFill>
              <a:effectLst/>
              <a:uFillTx/>
              <a:latin typeface="Arial"/>
            </a:endParaRPr>
          </a:p>
        </p:txBody>
      </p:sp>
      <p:sp>
        <p:nvSpPr>
          <p:cNvPr id="62" name="Text 4"/>
          <p:cNvSpPr/>
          <p:nvPr/>
        </p:nvSpPr>
        <p:spPr>
          <a:xfrm>
            <a:off x="9057240" y="3931920"/>
            <a:ext cx="1370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7A8BB8"/>
                </a:solidFill>
                <a:effectLst/>
                <a:uFillTx/>
                <a:latin typeface="Calibri"/>
              </a:rPr>
              <a:t>Horizon</a:t>
            </a:r>
            <a:endParaRPr lang="de-DE" sz="1100" b="0" u="none" strike="noStrike">
              <a:solidFill>
                <a:srgbClr val="000000"/>
              </a:solidFill>
              <a:effectLst/>
              <a:uFillTx/>
              <a:latin typeface="Arial"/>
            </a:endParaRPr>
          </a:p>
        </p:txBody>
      </p:sp>
      <p:sp>
        <p:nvSpPr>
          <p:cNvPr id="63" name="Text 5"/>
          <p:cNvSpPr/>
          <p:nvPr/>
        </p:nvSpPr>
        <p:spPr>
          <a:xfrm>
            <a:off x="10428840" y="3931920"/>
            <a:ext cx="12747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761"/>
                </a:solidFill>
                <a:effectLst/>
                <a:uFillTx/>
                <a:latin typeface="Calibri"/>
              </a:rPr>
              <a:t>T = 2,880 slots (30 days)</a:t>
            </a:r>
            <a:endParaRPr lang="de-DE" sz="1300" b="0" u="none" strike="noStrike">
              <a:solidFill>
                <a:srgbClr val="000000"/>
              </a:solidFill>
              <a:effectLst/>
              <a:uFillTx/>
              <a:latin typeface="Arial"/>
            </a:endParaRPr>
          </a:p>
        </p:txBody>
      </p:sp>
      <p:sp>
        <p:nvSpPr>
          <p:cNvPr id="64" name="Text 6"/>
          <p:cNvSpPr/>
          <p:nvPr/>
        </p:nvSpPr>
        <p:spPr>
          <a:xfrm>
            <a:off x="9057240" y="4434840"/>
            <a:ext cx="1370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7A8BB8"/>
                </a:solidFill>
                <a:effectLst/>
                <a:uFillTx/>
                <a:latin typeface="Calibri"/>
              </a:rPr>
              <a:t>Runtime</a:t>
            </a:r>
            <a:endParaRPr lang="de-DE" sz="1100" b="0" u="none" strike="noStrike">
              <a:solidFill>
                <a:srgbClr val="000000"/>
              </a:solidFill>
              <a:effectLst/>
              <a:uFillTx/>
              <a:latin typeface="Arial"/>
            </a:endParaRPr>
          </a:p>
        </p:txBody>
      </p:sp>
      <p:sp>
        <p:nvSpPr>
          <p:cNvPr id="65" name="Text 7"/>
          <p:cNvSpPr/>
          <p:nvPr/>
        </p:nvSpPr>
        <p:spPr>
          <a:xfrm>
            <a:off x="10428840" y="4434840"/>
            <a:ext cx="12747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761"/>
                </a:solidFill>
                <a:effectLst/>
                <a:uFillTx/>
                <a:latin typeface="Calibri"/>
              </a:rPr>
              <a:t>2.2 s</a:t>
            </a:r>
            <a:endParaRPr lang="de-DE" sz="1300" b="0" u="none" strike="noStrike">
              <a:solidFill>
                <a:srgbClr val="000000"/>
              </a:solidFill>
              <a:effectLst/>
              <a:uFillTx/>
              <a:latin typeface="Arial"/>
            </a:endParaRPr>
          </a:p>
        </p:txBody>
      </p:sp>
      <p:sp>
        <p:nvSpPr>
          <p:cNvPr id="66" name="Text 8"/>
          <p:cNvSpPr/>
          <p:nvPr/>
        </p:nvSpPr>
        <p:spPr>
          <a:xfrm>
            <a:off x="9057240" y="4937760"/>
            <a:ext cx="1370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7A8BB8"/>
                </a:solidFill>
                <a:effectLst/>
                <a:uFillTx/>
                <a:latin typeface="Calibri"/>
              </a:rPr>
              <a:t>MIP Gap</a:t>
            </a:r>
            <a:endParaRPr lang="de-DE" sz="1100" b="0" u="none" strike="noStrike">
              <a:solidFill>
                <a:srgbClr val="000000"/>
              </a:solidFill>
              <a:effectLst/>
              <a:uFillTx/>
              <a:latin typeface="Arial"/>
            </a:endParaRPr>
          </a:p>
        </p:txBody>
      </p:sp>
      <p:sp>
        <p:nvSpPr>
          <p:cNvPr id="67" name="Text 9"/>
          <p:cNvSpPr/>
          <p:nvPr/>
        </p:nvSpPr>
        <p:spPr>
          <a:xfrm>
            <a:off x="10428840" y="4937760"/>
            <a:ext cx="12747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761"/>
                </a:solidFill>
                <a:effectLst/>
                <a:uFillTx/>
                <a:latin typeface="Calibri"/>
              </a:rPr>
              <a:t>≈ 0 %</a:t>
            </a:r>
            <a:endParaRPr lang="de-DE" sz="1300" b="0" u="none" strike="noStrike">
              <a:solidFill>
                <a:srgbClr val="000000"/>
              </a:solidFill>
              <a:effectLst/>
              <a:uFillTx/>
              <a:latin typeface="Arial"/>
            </a:endParaRPr>
          </a:p>
        </p:txBody>
      </p:sp>
      <p:sp>
        <p:nvSpPr>
          <p:cNvPr id="68" name="Text 10"/>
          <p:cNvSpPr/>
          <p:nvPr/>
        </p:nvSpPr>
        <p:spPr>
          <a:xfrm>
            <a:off x="9057240" y="5440680"/>
            <a:ext cx="1370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7A8BB8"/>
                </a:solidFill>
                <a:effectLst/>
                <a:uFillTx/>
                <a:latin typeface="Calibri"/>
              </a:rPr>
              <a:t>Total Cost</a:t>
            </a:r>
            <a:endParaRPr lang="de-DE" sz="1100" b="0" u="none" strike="noStrike">
              <a:solidFill>
                <a:srgbClr val="000000"/>
              </a:solidFill>
              <a:effectLst/>
              <a:uFillTx/>
              <a:latin typeface="Arial"/>
            </a:endParaRPr>
          </a:p>
        </p:txBody>
      </p:sp>
      <p:sp>
        <p:nvSpPr>
          <p:cNvPr id="69" name="Text 11"/>
          <p:cNvSpPr/>
          <p:nvPr/>
        </p:nvSpPr>
        <p:spPr>
          <a:xfrm>
            <a:off x="10428840" y="5440680"/>
            <a:ext cx="127476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761"/>
                </a:solidFill>
                <a:effectLst/>
                <a:uFillTx/>
                <a:latin typeface="Calibri"/>
              </a:rPr>
              <a:t>$14,802</a:t>
            </a:r>
            <a:endParaRPr lang="de-DE" sz="1300" b="0" u="none" strike="noStrike">
              <a:solidFill>
                <a:srgbClr val="000000"/>
              </a:solidFill>
              <a:effectLst/>
              <a:uFillTx/>
              <a:latin typeface="Arial"/>
            </a:endParaRPr>
          </a:p>
        </p:txBody>
      </p:sp>
      <p:sp>
        <p:nvSpPr>
          <p:cNvPr id="70" name="Text 12"/>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5/12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Step 3: Realistic Uncertainty</a:t>
            </a:r>
            <a:endParaRPr lang="de-DE" sz="3200" b="0" u="none" strike="noStrike">
              <a:solidFill>
                <a:srgbClr val="000000"/>
              </a:solidFill>
              <a:effectLst/>
              <a:uFillTx/>
              <a:latin typeface="Arial"/>
            </a:endParaRPr>
          </a:p>
        </p:txBody>
      </p:sp>
      <p:sp>
        <p:nvSpPr>
          <p:cNvPr id="72"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Two-Stage Stochastic Programming — optimize across multiple PV/load scenarios simultaneously</a:t>
            </a:r>
            <a:endParaRPr lang="de-DE" sz="1600" b="0" u="none" strike="noStrike">
              <a:solidFill>
                <a:srgbClr val="000000"/>
              </a:solidFill>
              <a:effectLst/>
              <a:uFillTx/>
              <a:latin typeface="Arial"/>
            </a:endParaRPr>
          </a:p>
        </p:txBody>
      </p:sp>
      <p:pic>
        <p:nvPicPr>
          <p:cNvPr id="73" name="Image 0" descr="/home/claude/deck/figures/fig_runtime_heatmap.png"/>
          <p:cNvPicPr/>
          <p:nvPr/>
        </p:nvPicPr>
        <p:blipFill>
          <a:blip r:embed="rId1"/>
          <a:stretch/>
        </p:blipFill>
        <p:spPr>
          <a:xfrm>
            <a:off x="2810160" y="1417320"/>
            <a:ext cx="6540480" cy="2559600"/>
          </a:xfrm>
          <a:prstGeom prst="rect">
            <a:avLst/>
          </a:prstGeom>
          <a:noFill/>
          <a:ln w="0">
            <a:noFill/>
          </a:ln>
        </p:spPr>
      </p:pic>
      <p:sp>
        <p:nvSpPr>
          <p:cNvPr id="74" name="Text 2"/>
          <p:cNvSpPr/>
          <p:nvPr/>
        </p:nvSpPr>
        <p:spPr>
          <a:xfrm>
            <a:off x="548640" y="4297680"/>
            <a:ext cx="54856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rPr>
              <a:t>What's Happening?</a:t>
            </a:r>
            <a:endParaRPr lang="de-DE" sz="1600" b="0" u="none" strike="noStrike">
              <a:solidFill>
                <a:srgbClr val="000000"/>
              </a:solidFill>
              <a:effectLst/>
              <a:uFillTx/>
              <a:latin typeface="Arial"/>
            </a:endParaRPr>
          </a:p>
        </p:txBody>
      </p:sp>
      <p:sp>
        <p:nvSpPr>
          <p:cNvPr id="75" name="Text 3"/>
          <p:cNvSpPr/>
          <p:nvPr/>
        </p:nvSpPr>
        <p:spPr>
          <a:xfrm>
            <a:off x="548640" y="4709160"/>
            <a:ext cx="5485680" cy="1645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AR(1) noise on PV (±15 %) and load (±5 %)</a:t>
            </a:r>
            <a:endParaRPr lang="de-DE" sz="1200" b="0" u="none" strike="noStrike">
              <a:solidFill>
                <a:srgbClr val="000000"/>
              </a:solidFill>
              <a:effectLst/>
              <a:uFillTx/>
              <a:latin typeface="Arial"/>
            </a:endParaRPr>
          </a:p>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Solver must find ONE demand-charge peak that fits ALL scenarios</a:t>
            </a:r>
            <a:endParaRPr lang="de-DE" sz="1200" b="0" u="none" strike="noStrike">
              <a:solidFill>
                <a:srgbClr val="000000"/>
              </a:solidFill>
              <a:effectLst/>
              <a:uFillTx/>
              <a:latin typeface="Arial"/>
            </a:endParaRPr>
          </a:p>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Variable count grows with M × T</a:t>
            </a:r>
            <a:endParaRPr lang="de-DE" sz="1200" b="0" u="none" strike="noStrike">
              <a:solidFill>
                <a:srgbClr val="000000"/>
              </a:solidFill>
              <a:effectLst/>
              <a:uFillTx/>
              <a:latin typeface="Arial"/>
            </a:endParaRPr>
          </a:p>
        </p:txBody>
      </p:sp>
      <p:sp>
        <p:nvSpPr>
          <p:cNvPr id="76" name="Text 4"/>
          <p:cNvSpPr/>
          <p:nvPr/>
        </p:nvSpPr>
        <p:spPr>
          <a:xfrm>
            <a:off x="6309360" y="4297680"/>
            <a:ext cx="54856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96167"/>
                </a:solidFill>
                <a:effectLst/>
                <a:uFillTx/>
                <a:latin typeface="Calibri"/>
              </a:rPr>
              <a:t>What We Observe</a:t>
            </a:r>
            <a:endParaRPr lang="de-DE" sz="1600" b="0" u="none" strike="noStrike">
              <a:solidFill>
                <a:srgbClr val="000000"/>
              </a:solidFill>
              <a:effectLst/>
              <a:uFillTx/>
              <a:latin typeface="Arial"/>
            </a:endParaRPr>
          </a:p>
        </p:txBody>
      </p:sp>
      <p:sp>
        <p:nvSpPr>
          <p:cNvPr id="77" name="Text 5"/>
          <p:cNvSpPr/>
          <p:nvPr/>
        </p:nvSpPr>
        <p:spPr>
          <a:xfrm>
            <a:off x="6309360" y="4709160"/>
            <a:ext cx="5485680" cy="1645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M=1 trivial: 30 days in 2.2 s</a:t>
            </a:r>
            <a:endParaRPr lang="de-DE" sz="1200" b="0" u="none" strike="noStrike">
              <a:solidFill>
                <a:srgbClr val="000000"/>
              </a:solidFill>
              <a:effectLst/>
              <a:uFillTx/>
              <a:latin typeface="Arial"/>
            </a:endParaRPr>
          </a:p>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M=5 gets serious: 70 s, still optimal</a:t>
            </a:r>
            <a:endParaRPr lang="de-DE" sz="1200" b="0" u="none" strike="noStrike">
              <a:solidFill>
                <a:srgbClr val="000000"/>
              </a:solidFill>
              <a:effectLst/>
              <a:uFillTx/>
              <a:latin typeface="Arial"/>
            </a:endParaRPr>
          </a:p>
          <a:p>
            <a:pPr marL="343080" indent="-343080" defTabSz="914400">
              <a:lnSpc>
                <a:spcPct val="100000"/>
              </a:lnSpc>
              <a:spcAft>
                <a:spcPts val="300"/>
              </a:spcAft>
              <a:buClr>
                <a:srgbClr val="36454F"/>
              </a:buClr>
              <a:buFont typeface="Symbol" charset="2"/>
              <a:buChar char=""/>
            </a:pPr>
            <a:r>
              <a:rPr lang="en-US" sz="1200" b="0" u="none" strike="noStrike">
                <a:solidFill>
                  <a:srgbClr val="36454F"/>
                </a:solidFill>
                <a:effectLst/>
                <a:uFillTx/>
                <a:latin typeface="Calibri"/>
              </a:rPr>
              <a:t>M=10 hits the time limit (red cell)</a:t>
            </a:r>
            <a:endParaRPr lang="de-DE" sz="1200" b="0" u="none" strike="noStrike">
              <a:solidFill>
                <a:srgbClr val="000000"/>
              </a:solidFill>
              <a:effectLst/>
              <a:uFillTx/>
              <a:latin typeface="Arial"/>
            </a:endParaRPr>
          </a:p>
          <a:p>
            <a:pPr marL="343080" indent="-343080" defTabSz="914400">
              <a:lnSpc>
                <a:spcPct val="100000"/>
              </a:lnSpc>
              <a:spcAft>
                <a:spcPts val="300"/>
              </a:spcAft>
              <a:buClr>
                <a:srgbClr val="36454F"/>
              </a:buClr>
              <a:buFont typeface="Symbol" charset="2"/>
              <a:buChar char=""/>
            </a:pPr>
            <a:r>
              <a:rPr lang="en-US" sz="1200" b="1" u="none" strike="noStrike">
                <a:solidFill>
                  <a:srgbClr val="36454F"/>
                </a:solidFill>
                <a:effectLst/>
                <a:uFillTx/>
                <a:latin typeface="Calibri"/>
              </a:rPr>
              <a:t>Real MILP hardness reached — no shortcuts left</a:t>
            </a:r>
            <a:endParaRPr lang="de-DE" sz="1200" b="0" u="none" strike="noStrike">
              <a:solidFill>
                <a:srgbClr val="000000"/>
              </a:solidFill>
              <a:effectLst/>
              <a:uFillTx/>
              <a:latin typeface="Arial"/>
            </a:endParaRPr>
          </a:p>
        </p:txBody>
      </p:sp>
      <p:sp>
        <p:nvSpPr>
          <p:cNvPr id="78" name="Text 6"/>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6/12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Scaling Behavior</a:t>
            </a:r>
            <a:endParaRPr lang="de-DE" sz="3200" b="0" u="none" strike="noStrike">
              <a:solidFill>
                <a:srgbClr val="000000"/>
              </a:solidFill>
              <a:effectLst/>
              <a:uFillTx/>
              <a:latin typeface="Arial"/>
            </a:endParaRPr>
          </a:p>
        </p:txBody>
      </p:sp>
      <p:sp>
        <p:nvSpPr>
          <p:cNvPr id="80"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Classical solver scales exponentially with the number of scenarios — this motivates the quantum approach</a:t>
            </a:r>
            <a:endParaRPr lang="de-DE" sz="1600" b="0" u="none" strike="noStrike">
              <a:solidFill>
                <a:srgbClr val="000000"/>
              </a:solidFill>
              <a:effectLst/>
              <a:uFillTx/>
              <a:latin typeface="Arial"/>
            </a:endParaRPr>
          </a:p>
        </p:txBody>
      </p:sp>
      <p:pic>
        <p:nvPicPr>
          <p:cNvPr id="81" name="Image 0" descr="/home/claude/deck/figures/fig_runtime_growth.png"/>
          <p:cNvPicPr/>
          <p:nvPr/>
        </p:nvPicPr>
        <p:blipFill>
          <a:blip r:embed="rId1"/>
          <a:stretch/>
        </p:blipFill>
        <p:spPr>
          <a:xfrm>
            <a:off x="2066760" y="1417320"/>
            <a:ext cx="8027280" cy="4754160"/>
          </a:xfrm>
          <a:prstGeom prst="rect">
            <a:avLst/>
          </a:prstGeom>
          <a:noFill/>
          <a:ln w="0">
            <a:noFill/>
          </a:ln>
        </p:spPr>
      </p:pic>
      <p:sp>
        <p:nvSpPr>
          <p:cNvPr id="82" name="Text 2"/>
          <p:cNvSpPr/>
          <p:nvPr/>
        </p:nvSpPr>
        <p:spPr>
          <a:xfrm>
            <a:off x="457200" y="6126480"/>
            <a:ext cx="11246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36454F"/>
                </a:solidFill>
                <a:effectLst/>
                <a:uFillTx/>
                <a:latin typeface="Calibri"/>
              </a:rPr>
              <a:t>Det. (M=1): linear, no problem · </a:t>
            </a:r>
            <a:r>
              <a:rPr lang="en-US" sz="1200" b="1" u="none" strike="noStrike">
                <a:solidFill>
                  <a:srgbClr val="F96167"/>
                </a:solidFill>
                <a:effectLst/>
                <a:uFillTx/>
                <a:latin typeface="Calibri"/>
              </a:rPr>
              <a:t>Stochastic (M=5/10): super-linear, time limit reached</a:t>
            </a:r>
            <a:endParaRPr lang="de-DE" sz="1200" b="0" u="none" strike="noStrike">
              <a:solidFill>
                <a:srgbClr val="000000"/>
              </a:solidFill>
              <a:effectLst/>
              <a:uFillTx/>
              <a:latin typeface="Arial"/>
            </a:endParaRPr>
          </a:p>
        </p:txBody>
      </p:sp>
      <p:sp>
        <p:nvSpPr>
          <p:cNvPr id="83" name="Text 3"/>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7/12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Why Quantum Computing?</a:t>
            </a:r>
            <a:endParaRPr lang="de-DE" sz="3200" b="0" u="none" strike="noStrike">
              <a:solidFill>
                <a:srgbClr val="000000"/>
              </a:solidFill>
              <a:effectLst/>
              <a:uFillTx/>
              <a:latin typeface="Arial"/>
            </a:endParaRPr>
          </a:p>
        </p:txBody>
      </p:sp>
      <p:sp>
        <p:nvSpPr>
          <p:cNvPr id="85"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Different scaling on combinatorial problems — framed honestly</a:t>
            </a:r>
            <a:endParaRPr lang="de-DE" sz="1600" b="0" u="none" strike="noStrike">
              <a:solidFill>
                <a:srgbClr val="000000"/>
              </a:solidFill>
              <a:effectLst/>
              <a:uFillTx/>
              <a:latin typeface="Arial"/>
            </a:endParaRPr>
          </a:p>
        </p:txBody>
      </p:sp>
      <p:sp>
        <p:nvSpPr>
          <p:cNvPr id="86" name="Shape 2"/>
          <p:cNvSpPr/>
          <p:nvPr/>
        </p:nvSpPr>
        <p:spPr>
          <a:xfrm>
            <a:off x="457200" y="1554480"/>
            <a:ext cx="3565440" cy="411408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87" name="Shape 3"/>
          <p:cNvSpPr/>
          <p:nvPr/>
        </p:nvSpPr>
        <p:spPr>
          <a:xfrm>
            <a:off x="457200" y="1554480"/>
            <a:ext cx="72360" cy="4114080"/>
          </a:xfrm>
          <a:prstGeom prst="rect">
            <a:avLst/>
          </a:prstGeom>
          <a:solidFill>
            <a:srgbClr val="1E276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88" name="Text 4"/>
          <p:cNvSpPr/>
          <p:nvPr/>
        </p:nvSpPr>
        <p:spPr>
          <a:xfrm>
            <a:off x="731520" y="1828800"/>
            <a:ext cx="3016800" cy="913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600" b="0" u="none" strike="noStrike">
                <a:solidFill>
                  <a:srgbClr val="1E2761"/>
                </a:solidFill>
                <a:effectLst/>
                <a:uFillTx/>
                <a:latin typeface="Calibri"/>
              </a:rPr>
              <a:t>→</a:t>
            </a:r>
            <a:endParaRPr lang="de-DE" sz="5600" b="0" u="none" strike="noStrike">
              <a:solidFill>
                <a:srgbClr val="000000"/>
              </a:solidFill>
              <a:effectLst/>
              <a:uFillTx/>
              <a:latin typeface="Arial"/>
            </a:endParaRPr>
          </a:p>
        </p:txBody>
      </p:sp>
      <p:sp>
        <p:nvSpPr>
          <p:cNvPr id="89" name="Text 5"/>
          <p:cNvSpPr/>
          <p:nvPr/>
        </p:nvSpPr>
        <p:spPr>
          <a:xfrm>
            <a:off x="731520" y="2926080"/>
            <a:ext cx="30168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E2761"/>
                </a:solidFill>
                <a:effectLst/>
                <a:uFillTx/>
                <a:latin typeface="Calibri"/>
              </a:rPr>
              <a:t>Classical Search</a:t>
            </a:r>
            <a:endParaRPr lang="de-DE" sz="1800" b="0" u="none" strike="noStrike">
              <a:solidFill>
                <a:srgbClr val="000000"/>
              </a:solidFill>
              <a:effectLst/>
              <a:uFillTx/>
              <a:latin typeface="Arial"/>
            </a:endParaRPr>
          </a:p>
        </p:txBody>
      </p:sp>
      <p:sp>
        <p:nvSpPr>
          <p:cNvPr id="90" name="Text 6"/>
          <p:cNvSpPr/>
          <p:nvPr/>
        </p:nvSpPr>
        <p:spPr>
          <a:xfrm>
            <a:off x="731520" y="3383280"/>
            <a:ext cx="30168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7A8BB8"/>
                </a:solidFill>
                <a:effectLst/>
                <a:uFillTx/>
                <a:latin typeface="Calibri"/>
              </a:rPr>
              <a:t>Branch-and-Bound</a:t>
            </a:r>
            <a:endParaRPr lang="de-DE" sz="1200" b="0" u="none" strike="noStrike">
              <a:solidFill>
                <a:srgbClr val="000000"/>
              </a:solidFill>
              <a:effectLst/>
              <a:uFillTx/>
              <a:latin typeface="Arial"/>
            </a:endParaRPr>
          </a:p>
        </p:txBody>
      </p:sp>
      <p:sp>
        <p:nvSpPr>
          <p:cNvPr id="91" name="Text 7"/>
          <p:cNvSpPr/>
          <p:nvPr/>
        </p:nvSpPr>
        <p:spPr>
          <a:xfrm>
            <a:off x="731520" y="3840480"/>
            <a:ext cx="3016800" cy="164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36454F"/>
                </a:solidFill>
                <a:effectLst/>
                <a:uFillTx/>
                <a:latin typeface="Calibri"/>
              </a:rPr>
              <a:t>Algorithm examines schedules one at a time. Pruning via bounds. Worst case exponential.</a:t>
            </a:r>
            <a:endParaRPr lang="de-DE" sz="1300" b="0" u="none" strike="noStrike">
              <a:solidFill>
                <a:srgbClr val="000000"/>
              </a:solidFill>
              <a:effectLst/>
              <a:uFillTx/>
              <a:latin typeface="Arial"/>
            </a:endParaRPr>
          </a:p>
        </p:txBody>
      </p:sp>
      <p:sp>
        <p:nvSpPr>
          <p:cNvPr id="92" name="Shape 8"/>
          <p:cNvSpPr/>
          <p:nvPr/>
        </p:nvSpPr>
        <p:spPr>
          <a:xfrm>
            <a:off x="4297680" y="1554480"/>
            <a:ext cx="3565440" cy="411408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3" name="Shape 9"/>
          <p:cNvSpPr/>
          <p:nvPr/>
        </p:nvSpPr>
        <p:spPr>
          <a:xfrm>
            <a:off x="4297680" y="1554480"/>
            <a:ext cx="72360" cy="411408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94" name="Text 10"/>
          <p:cNvSpPr/>
          <p:nvPr/>
        </p:nvSpPr>
        <p:spPr>
          <a:xfrm>
            <a:off x="4572000" y="1828800"/>
            <a:ext cx="3016800" cy="913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600" b="0" u="none" strike="noStrike">
                <a:solidFill>
                  <a:srgbClr val="F96167"/>
                </a:solidFill>
                <a:effectLst/>
                <a:uFillTx/>
                <a:latin typeface="Calibri"/>
              </a:rPr>
              <a:t>∿</a:t>
            </a:r>
            <a:endParaRPr lang="de-DE" sz="5600" b="0" u="none" strike="noStrike">
              <a:solidFill>
                <a:srgbClr val="000000"/>
              </a:solidFill>
              <a:effectLst/>
              <a:uFillTx/>
              <a:latin typeface="Arial"/>
            </a:endParaRPr>
          </a:p>
        </p:txBody>
      </p:sp>
      <p:sp>
        <p:nvSpPr>
          <p:cNvPr id="95" name="Text 11"/>
          <p:cNvSpPr/>
          <p:nvPr/>
        </p:nvSpPr>
        <p:spPr>
          <a:xfrm>
            <a:off x="4572000" y="2926080"/>
            <a:ext cx="30168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96167"/>
                </a:solidFill>
                <a:effectLst/>
                <a:uFillTx/>
                <a:latin typeface="Calibri"/>
              </a:rPr>
              <a:t>Quantum Annealing</a:t>
            </a:r>
            <a:endParaRPr lang="de-DE" sz="1800" b="0" u="none" strike="noStrike">
              <a:solidFill>
                <a:srgbClr val="000000"/>
              </a:solidFill>
              <a:effectLst/>
              <a:uFillTx/>
              <a:latin typeface="Arial"/>
            </a:endParaRPr>
          </a:p>
        </p:txBody>
      </p:sp>
      <p:sp>
        <p:nvSpPr>
          <p:cNvPr id="96" name="Text 12"/>
          <p:cNvSpPr/>
          <p:nvPr/>
        </p:nvSpPr>
        <p:spPr>
          <a:xfrm>
            <a:off x="4572000" y="3383280"/>
            <a:ext cx="30168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7A8BB8"/>
                </a:solidFill>
                <a:effectLst/>
                <a:uFillTx/>
                <a:latin typeface="Calibri"/>
              </a:rPr>
              <a:t>Energy Landscape</a:t>
            </a:r>
            <a:endParaRPr lang="de-DE" sz="1200" b="0" u="none" strike="noStrike">
              <a:solidFill>
                <a:srgbClr val="000000"/>
              </a:solidFill>
              <a:effectLst/>
              <a:uFillTx/>
              <a:latin typeface="Arial"/>
            </a:endParaRPr>
          </a:p>
        </p:txBody>
      </p:sp>
      <p:sp>
        <p:nvSpPr>
          <p:cNvPr id="97" name="Text 13"/>
          <p:cNvSpPr/>
          <p:nvPr/>
        </p:nvSpPr>
        <p:spPr>
          <a:xfrm>
            <a:off x="4572000" y="3840480"/>
            <a:ext cx="3016800" cy="164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36454F"/>
                </a:solidFill>
                <a:effectLst/>
                <a:uFillTx/>
                <a:latin typeface="Calibri"/>
              </a:rPr>
              <a:t>All possible schedules exist simultaneously in superposition. The system evolves into the state of lowest energy = lowest cost.</a:t>
            </a:r>
            <a:endParaRPr lang="de-DE" sz="1300" b="0" u="none" strike="noStrike">
              <a:solidFill>
                <a:srgbClr val="000000"/>
              </a:solidFill>
              <a:effectLst/>
              <a:uFillTx/>
              <a:latin typeface="Arial"/>
            </a:endParaRPr>
          </a:p>
        </p:txBody>
      </p:sp>
      <p:sp>
        <p:nvSpPr>
          <p:cNvPr id="98" name="Shape 14"/>
          <p:cNvSpPr/>
          <p:nvPr/>
        </p:nvSpPr>
        <p:spPr>
          <a:xfrm>
            <a:off x="8138160" y="1554480"/>
            <a:ext cx="3565440" cy="411408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9" name="Shape 15"/>
          <p:cNvSpPr/>
          <p:nvPr/>
        </p:nvSpPr>
        <p:spPr>
          <a:xfrm>
            <a:off x="8138160" y="1554480"/>
            <a:ext cx="72360" cy="4114080"/>
          </a:xfrm>
          <a:prstGeom prst="rect">
            <a:avLst/>
          </a:prstGeom>
          <a:solidFill>
            <a:srgbClr val="36454F"/>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00" name="Text 16"/>
          <p:cNvSpPr/>
          <p:nvPr/>
        </p:nvSpPr>
        <p:spPr>
          <a:xfrm>
            <a:off x="8412480" y="1828800"/>
            <a:ext cx="3016800" cy="913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600" b="0" u="none" strike="noStrike">
                <a:solidFill>
                  <a:srgbClr val="36454F"/>
                </a:solidFill>
                <a:effectLst/>
                <a:uFillTx/>
                <a:latin typeface="Calibri"/>
              </a:rPr>
              <a:t>↗</a:t>
            </a:r>
            <a:endParaRPr lang="de-DE" sz="5600" b="0" u="none" strike="noStrike">
              <a:solidFill>
                <a:srgbClr val="000000"/>
              </a:solidFill>
              <a:effectLst/>
              <a:uFillTx/>
              <a:latin typeface="Arial"/>
            </a:endParaRPr>
          </a:p>
        </p:txBody>
      </p:sp>
      <p:sp>
        <p:nvSpPr>
          <p:cNvPr id="101" name="Text 17"/>
          <p:cNvSpPr/>
          <p:nvPr/>
        </p:nvSpPr>
        <p:spPr>
          <a:xfrm>
            <a:off x="8412480" y="2926080"/>
            <a:ext cx="30168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36454F"/>
                </a:solidFill>
                <a:effectLst/>
                <a:uFillTx/>
                <a:latin typeface="Calibri"/>
              </a:rPr>
              <a:t>What This Gains Us</a:t>
            </a:r>
            <a:endParaRPr lang="de-DE" sz="1800" b="0" u="none" strike="noStrike">
              <a:solidFill>
                <a:srgbClr val="000000"/>
              </a:solidFill>
              <a:effectLst/>
              <a:uFillTx/>
              <a:latin typeface="Arial"/>
            </a:endParaRPr>
          </a:p>
        </p:txBody>
      </p:sp>
      <p:sp>
        <p:nvSpPr>
          <p:cNvPr id="102" name="Text 18"/>
          <p:cNvSpPr/>
          <p:nvPr/>
        </p:nvSpPr>
        <p:spPr>
          <a:xfrm>
            <a:off x="8412480" y="3383280"/>
            <a:ext cx="30168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7A8BB8"/>
                </a:solidFill>
                <a:effectLst/>
                <a:uFillTx/>
                <a:latin typeface="Calibri"/>
              </a:rPr>
              <a:t>Scaling Advantage</a:t>
            </a:r>
            <a:endParaRPr lang="de-DE" sz="1200" b="0" u="none" strike="noStrike">
              <a:solidFill>
                <a:srgbClr val="000000"/>
              </a:solidFill>
              <a:effectLst/>
              <a:uFillTx/>
              <a:latin typeface="Arial"/>
            </a:endParaRPr>
          </a:p>
        </p:txBody>
      </p:sp>
      <p:sp>
        <p:nvSpPr>
          <p:cNvPr id="103" name="Text 19"/>
          <p:cNvSpPr/>
          <p:nvPr/>
        </p:nvSpPr>
        <p:spPr>
          <a:xfrm>
            <a:off x="8412480" y="3840480"/>
            <a:ext cx="3016800" cy="164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36454F"/>
                </a:solidFill>
                <a:effectLst/>
                <a:uFillTx/>
                <a:latin typeface="Calibri"/>
              </a:rPr>
              <a:t>On combinatorial problems with many local optima — like dispatch under uncertainty — annealing can find competitive solutions with different scaling behavior.</a:t>
            </a:r>
            <a:endParaRPr lang="de-DE" sz="1300" b="0" u="none" strike="noStrike">
              <a:solidFill>
                <a:srgbClr val="000000"/>
              </a:solidFill>
              <a:effectLst/>
              <a:uFillTx/>
              <a:latin typeface="Arial"/>
            </a:endParaRPr>
          </a:p>
        </p:txBody>
      </p:sp>
      <p:sp>
        <p:nvSpPr>
          <p:cNvPr id="104" name="Text 20"/>
          <p:cNvSpPr/>
          <p:nvPr/>
        </p:nvSpPr>
        <p:spPr>
          <a:xfrm>
            <a:off x="457200" y="5943600"/>
            <a:ext cx="11246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i="1" u="none" strike="noStrike">
                <a:solidFill>
                  <a:srgbClr val="7A8BB8"/>
                </a:solidFill>
                <a:effectLst/>
                <a:uFillTx/>
                <a:latin typeface="Calibri"/>
              </a:rPr>
              <a:t>⚠  Today's quantum hardware is small and noisy. We are investigating where this approach is already competitive.</a:t>
            </a:r>
            <a:endParaRPr lang="de-DE" sz="1100" b="0" u="none" strike="noStrike">
              <a:solidFill>
                <a:srgbClr val="000000"/>
              </a:solidFill>
              <a:effectLst/>
              <a:uFillTx/>
              <a:latin typeface="Arial"/>
            </a:endParaRPr>
          </a:p>
        </p:txBody>
      </p:sp>
      <p:sp>
        <p:nvSpPr>
          <p:cNvPr id="105" name="Text 21"/>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8/12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Planned Quantum Backend: D-Wave</a:t>
            </a:r>
            <a:endParaRPr lang="de-DE" sz="3200" b="0" u="none" strike="noStrike">
              <a:solidFill>
                <a:srgbClr val="000000"/>
              </a:solidFill>
              <a:effectLst/>
              <a:uFillTx/>
              <a:latin typeface="Arial"/>
            </a:endParaRPr>
          </a:p>
        </p:txBody>
      </p:sp>
      <p:sp>
        <p:nvSpPr>
          <p:cNvPr id="107"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Purpose-built hardware for QUBO problems — directly applicable to our problem size</a:t>
            </a:r>
            <a:endParaRPr lang="de-DE" sz="1600" b="0" u="none" strike="noStrike">
              <a:solidFill>
                <a:srgbClr val="000000"/>
              </a:solidFill>
              <a:effectLst/>
              <a:uFillTx/>
              <a:latin typeface="Arial"/>
            </a:endParaRPr>
          </a:p>
        </p:txBody>
      </p:sp>
      <p:sp>
        <p:nvSpPr>
          <p:cNvPr id="108" name="Shape 2"/>
          <p:cNvSpPr/>
          <p:nvPr/>
        </p:nvSpPr>
        <p:spPr>
          <a:xfrm>
            <a:off x="640080" y="1554480"/>
            <a:ext cx="6857280" cy="4296960"/>
          </a:xfrm>
          <a:prstGeom prst="roundRect">
            <a:avLst>
              <a:gd name="adj" fmla="val 3191"/>
            </a:avLst>
          </a:prstGeom>
          <a:solidFill>
            <a:srgbClr val="1E276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09" name="Text 3"/>
          <p:cNvSpPr/>
          <p:nvPr/>
        </p:nvSpPr>
        <p:spPr>
          <a:xfrm>
            <a:off x="914400" y="1828800"/>
            <a:ext cx="64915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rPr>
              <a:t>D-Wave Quantum Annealing</a:t>
            </a:r>
            <a:endParaRPr lang="de-DE" sz="2200" b="0" u="none" strike="noStrike">
              <a:solidFill>
                <a:srgbClr val="000000"/>
              </a:solidFill>
              <a:effectLst/>
              <a:uFillTx/>
              <a:latin typeface="Arial"/>
            </a:endParaRPr>
          </a:p>
        </p:txBody>
      </p:sp>
      <p:sp>
        <p:nvSpPr>
          <p:cNvPr id="110" name="Text 4"/>
          <p:cNvSpPr/>
          <p:nvPr/>
        </p:nvSpPr>
        <p:spPr>
          <a:xfrm>
            <a:off x="914400" y="2377440"/>
            <a:ext cx="64915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CADCFC"/>
                </a:solidFill>
                <a:effectLst/>
                <a:uFillTx/>
                <a:latin typeface="Calibri"/>
              </a:rPr>
              <a:t>Advantage 2 system, accessed via Leap cloud platform</a:t>
            </a:r>
            <a:endParaRPr lang="de-DE" sz="1300" b="0" u="none" strike="noStrike">
              <a:solidFill>
                <a:srgbClr val="000000"/>
              </a:solidFill>
              <a:effectLst/>
              <a:uFillTx/>
              <a:latin typeface="Arial"/>
            </a:endParaRPr>
          </a:p>
        </p:txBody>
      </p:sp>
      <p:sp>
        <p:nvSpPr>
          <p:cNvPr id="111" name="Text 5"/>
          <p:cNvSpPr/>
          <p:nvPr/>
        </p:nvSpPr>
        <p:spPr>
          <a:xfrm>
            <a:off x="914400" y="2926080"/>
            <a:ext cx="6491520" cy="2742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FFFFFF"/>
              </a:buClr>
              <a:buFont typeface="Symbol" charset="2"/>
              <a:buChar char=""/>
            </a:pPr>
            <a:r>
              <a:rPr lang="en-US" sz="1400" b="0" u="none" strike="noStrike">
                <a:solidFill>
                  <a:srgbClr val="FFFFFF"/>
                </a:solidFill>
                <a:effectLst/>
                <a:uFillTx/>
                <a:latin typeface="Calibri"/>
              </a:rPr>
              <a:t>Up to ~5,000 qubits — fits our problem size directly</a:t>
            </a:r>
            <a:endParaRPr lang="de-DE" sz="1400" b="0" u="none" strike="noStrike">
              <a:solidFill>
                <a:srgbClr val="000000"/>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400" b="0" u="none" strike="noStrike">
                <a:solidFill>
                  <a:srgbClr val="FFFFFF"/>
                </a:solidFill>
                <a:effectLst/>
                <a:uFillTx/>
                <a:latin typeface="Calibri"/>
              </a:rPr>
              <a:t>Returns 1,000+ candidate solutions in seconds</a:t>
            </a:r>
            <a:endParaRPr lang="de-DE" sz="1400" b="0" u="none" strike="noStrike">
              <a:solidFill>
                <a:srgbClr val="000000"/>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400" b="0" u="none" strike="noStrike">
                <a:solidFill>
                  <a:srgbClr val="FFFFFF"/>
                </a:solidFill>
                <a:effectLst/>
                <a:uFillTx/>
                <a:latin typeface="Calibri"/>
              </a:rPr>
              <a:t>Hybrid sampler combines classical CPU and QPU</a:t>
            </a:r>
            <a:endParaRPr lang="de-DE" sz="1400" b="0" u="none" strike="noStrike">
              <a:solidFill>
                <a:srgbClr val="000000"/>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400" b="0" u="none" strike="noStrike">
                <a:solidFill>
                  <a:srgbClr val="FFFFFF"/>
                </a:solidFill>
                <a:effectLst/>
                <a:uFillTx/>
                <a:latin typeface="Calibri"/>
              </a:rPr>
              <a:t>Native QUBO interface — no algorithmic translation required</a:t>
            </a:r>
            <a:endParaRPr lang="de-DE" sz="1400" b="0" u="none" strike="noStrike">
              <a:solidFill>
                <a:srgbClr val="000000"/>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400" b="0" u="none" strike="noStrike">
                <a:solidFill>
                  <a:srgbClr val="FFFFFF"/>
                </a:solidFill>
                <a:effectLst/>
                <a:uFillTx/>
                <a:latin typeface="Calibri"/>
              </a:rPr>
              <a:t>Mature stack with established tooling (dimod, Ocean SDK)</a:t>
            </a:r>
            <a:endParaRPr lang="de-DE" sz="1400" b="0" u="none" strike="noStrike">
              <a:solidFill>
                <a:srgbClr val="000000"/>
              </a:solidFill>
              <a:effectLst/>
              <a:uFillTx/>
              <a:latin typeface="Arial"/>
            </a:endParaRPr>
          </a:p>
        </p:txBody>
      </p:sp>
      <p:sp>
        <p:nvSpPr>
          <p:cNvPr id="112" name="Shape 6"/>
          <p:cNvSpPr/>
          <p:nvPr/>
        </p:nvSpPr>
        <p:spPr>
          <a:xfrm>
            <a:off x="7772400" y="1554480"/>
            <a:ext cx="3931200" cy="4296960"/>
          </a:xfrm>
          <a:prstGeom prst="roundRect">
            <a:avLst>
              <a:gd name="adj" fmla="val 3488"/>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13" name="Shape 7"/>
          <p:cNvSpPr/>
          <p:nvPr/>
        </p:nvSpPr>
        <p:spPr>
          <a:xfrm>
            <a:off x="7772400" y="1554480"/>
            <a:ext cx="72360" cy="429696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14" name="Text 8"/>
          <p:cNvSpPr/>
          <p:nvPr/>
        </p:nvSpPr>
        <p:spPr>
          <a:xfrm>
            <a:off x="8046720" y="1828800"/>
            <a:ext cx="356544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761"/>
                </a:solidFill>
                <a:effectLst/>
                <a:uFillTx/>
                <a:latin typeface="Calibri"/>
              </a:rPr>
              <a:t>Why Annealing for This Problem</a:t>
            </a:r>
            <a:endParaRPr lang="de-DE" sz="1600" b="0" u="none" strike="noStrike">
              <a:solidFill>
                <a:srgbClr val="000000"/>
              </a:solidFill>
              <a:effectLst/>
              <a:uFillTx/>
              <a:latin typeface="Arial"/>
            </a:endParaRPr>
          </a:p>
        </p:txBody>
      </p:sp>
      <p:sp>
        <p:nvSpPr>
          <p:cNvPr id="115" name="Text 9"/>
          <p:cNvSpPr/>
          <p:nvPr/>
        </p:nvSpPr>
        <p:spPr>
          <a:xfrm>
            <a:off x="8046720" y="2423160"/>
            <a:ext cx="3565440" cy="329112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36454F"/>
              </a:buClr>
              <a:buFont typeface="Symbol" charset="2"/>
              <a:buChar char=""/>
            </a:pPr>
            <a:r>
              <a:rPr lang="en-US" sz="1200" b="0" u="none" strike="noStrike">
                <a:solidFill>
                  <a:srgbClr val="36454F"/>
                </a:solidFill>
                <a:effectLst/>
                <a:uFillTx/>
                <a:latin typeface="Calibri"/>
              </a:rPr>
              <a:t>Our QUBO encoding maps naturally to annealing hardware</a:t>
            </a:r>
            <a:endParaRPr lang="de-DE" sz="12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200" b="0" u="none" strike="noStrike">
                <a:solidFill>
                  <a:srgbClr val="36454F"/>
                </a:solidFill>
                <a:effectLst/>
                <a:uFillTx/>
                <a:latin typeface="Calibri"/>
              </a:rPr>
              <a:t>Stochastic dispatch has many local optima — annealing escapes them by design</a:t>
            </a:r>
            <a:endParaRPr lang="de-DE" sz="12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200" b="0" u="none" strike="noStrike">
                <a:solidFill>
                  <a:srgbClr val="36454F"/>
                </a:solidFill>
                <a:effectLst/>
                <a:uFillTx/>
                <a:latin typeface="Calibri"/>
              </a:rPr>
              <a:t>Problem size (~500 qubits for reduced horizon) fits comfortably on current hardware</a:t>
            </a:r>
            <a:endParaRPr lang="de-DE" sz="1200" b="0" u="none" strike="noStrike">
              <a:solidFill>
                <a:srgbClr val="000000"/>
              </a:solidFill>
              <a:effectLst/>
              <a:uFillTx/>
              <a:latin typeface="Arial"/>
            </a:endParaRPr>
          </a:p>
        </p:txBody>
      </p:sp>
      <p:sp>
        <p:nvSpPr>
          <p:cNvPr id="116" name="Text 10"/>
          <p:cNvSpPr/>
          <p:nvPr/>
        </p:nvSpPr>
        <p:spPr>
          <a:xfrm>
            <a:off x="640080" y="5989320"/>
            <a:ext cx="108806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36454F"/>
                </a:solidFill>
                <a:effectLst/>
                <a:uFillTx/>
                <a:latin typeface="Calibri"/>
              </a:rPr>
              <a:t>Both solvers consume the same QUBO problem definition. Reference baseline = Gurobi solution.</a:t>
            </a:r>
            <a:endParaRPr lang="de-DE" sz="1200" b="0" u="none" strike="noStrike">
              <a:solidFill>
                <a:srgbClr val="000000"/>
              </a:solidFill>
              <a:effectLst/>
              <a:uFillTx/>
              <a:latin typeface="Arial"/>
            </a:endParaRPr>
          </a:p>
        </p:txBody>
      </p:sp>
      <p:sp>
        <p:nvSpPr>
          <p:cNvPr id="117" name="Text 11"/>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9/12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Roadmap</a:t>
            </a:r>
            <a:endParaRPr lang="de-DE" sz="3200" b="0" u="none" strike="noStrike">
              <a:solidFill>
                <a:srgbClr val="000000"/>
              </a:solidFill>
              <a:effectLst/>
              <a:uFillTx/>
              <a:latin typeface="Arial"/>
            </a:endParaRPr>
          </a:p>
        </p:txBody>
      </p:sp>
      <p:sp>
        <p:nvSpPr>
          <p:cNvPr id="119"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What's done, what's next, what we need from you</a:t>
            </a:r>
            <a:endParaRPr lang="de-DE" sz="1600" b="0" u="none" strike="noStrike">
              <a:solidFill>
                <a:srgbClr val="000000"/>
              </a:solidFill>
              <a:effectLst/>
              <a:uFillTx/>
              <a:latin typeface="Arial"/>
            </a:endParaRPr>
          </a:p>
        </p:txBody>
      </p:sp>
      <p:sp>
        <p:nvSpPr>
          <p:cNvPr id="120" name="Shape 2"/>
          <p:cNvSpPr/>
          <p:nvPr/>
        </p:nvSpPr>
        <p:spPr>
          <a:xfrm>
            <a:off x="411480" y="1554480"/>
            <a:ext cx="3656880" cy="547920"/>
          </a:xfrm>
          <a:prstGeom prst="rect">
            <a:avLst/>
          </a:prstGeom>
          <a:solidFill>
            <a:srgbClr val="264653"/>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21" name="Text 3"/>
          <p:cNvSpPr/>
          <p:nvPr/>
        </p:nvSpPr>
        <p:spPr>
          <a:xfrm>
            <a:off x="594360" y="1554480"/>
            <a:ext cx="32911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rPr>
              <a:t>✓  Completed</a:t>
            </a:r>
            <a:endParaRPr lang="de-DE" sz="1600" b="0" u="none" strike="noStrike">
              <a:solidFill>
                <a:srgbClr val="000000"/>
              </a:solidFill>
              <a:effectLst/>
              <a:uFillTx/>
              <a:latin typeface="Arial"/>
            </a:endParaRPr>
          </a:p>
        </p:txBody>
      </p:sp>
      <p:sp>
        <p:nvSpPr>
          <p:cNvPr id="122" name="Text 4"/>
          <p:cNvSpPr/>
          <p:nvPr/>
        </p:nvSpPr>
        <p:spPr>
          <a:xfrm>
            <a:off x="594360" y="2286000"/>
            <a:ext cx="3291120" cy="38397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Data pipeline + scenario generator</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Classical MILP solver, deterministic</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Stochastic extension (Two-Stage)</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Scaling sweep across (T, M)</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Comparison instance defined: T=2,880, M=5</a:t>
            </a:r>
            <a:endParaRPr lang="de-DE" sz="1300" b="0" u="none" strike="noStrike">
              <a:solidFill>
                <a:srgbClr val="000000"/>
              </a:solidFill>
              <a:effectLst/>
              <a:uFillTx/>
              <a:latin typeface="Arial"/>
            </a:endParaRPr>
          </a:p>
        </p:txBody>
      </p:sp>
      <p:sp>
        <p:nvSpPr>
          <p:cNvPr id="123" name="Shape 5"/>
          <p:cNvSpPr/>
          <p:nvPr/>
        </p:nvSpPr>
        <p:spPr>
          <a:xfrm>
            <a:off x="4251960" y="1554480"/>
            <a:ext cx="3656880" cy="547920"/>
          </a:xfrm>
          <a:prstGeom prst="rect">
            <a:avLst/>
          </a:prstGeom>
          <a:solidFill>
            <a:srgbClr val="1E276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24" name="Text 6"/>
          <p:cNvSpPr/>
          <p:nvPr/>
        </p:nvSpPr>
        <p:spPr>
          <a:xfrm>
            <a:off x="4434840" y="1554480"/>
            <a:ext cx="32911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rPr>
              <a:t>→  Next Steps</a:t>
            </a:r>
            <a:endParaRPr lang="de-DE" sz="1600" b="0" u="none" strike="noStrike">
              <a:solidFill>
                <a:srgbClr val="000000"/>
              </a:solidFill>
              <a:effectLst/>
              <a:uFillTx/>
              <a:latin typeface="Arial"/>
            </a:endParaRPr>
          </a:p>
        </p:txBody>
      </p:sp>
      <p:sp>
        <p:nvSpPr>
          <p:cNvPr id="125" name="Text 7"/>
          <p:cNvSpPr/>
          <p:nvPr/>
        </p:nvSpPr>
        <p:spPr>
          <a:xfrm>
            <a:off x="4434840" y="2286000"/>
            <a:ext cx="3291120" cy="38397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QUBO formulation of the dispatch problem</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D-Wave runs on the canonical instance</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Approximation ratio + scaling comparison</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Final report + live demo</a:t>
            </a:r>
            <a:endParaRPr lang="de-DE" sz="1300" b="0" u="none" strike="noStrike">
              <a:solidFill>
                <a:srgbClr val="000000"/>
              </a:solidFill>
              <a:effectLst/>
              <a:uFillTx/>
              <a:latin typeface="Arial"/>
            </a:endParaRPr>
          </a:p>
        </p:txBody>
      </p:sp>
      <p:sp>
        <p:nvSpPr>
          <p:cNvPr id="126" name="Shape 8"/>
          <p:cNvSpPr/>
          <p:nvPr/>
        </p:nvSpPr>
        <p:spPr>
          <a:xfrm>
            <a:off x="8092440" y="1554480"/>
            <a:ext cx="3656880" cy="54792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27" name="Text 9"/>
          <p:cNvSpPr/>
          <p:nvPr/>
        </p:nvSpPr>
        <p:spPr>
          <a:xfrm>
            <a:off x="8275320" y="1554480"/>
            <a:ext cx="32911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rPr>
              <a:t>?  Open Questions</a:t>
            </a:r>
            <a:endParaRPr lang="de-DE" sz="1600" b="0" u="none" strike="noStrike">
              <a:solidFill>
                <a:srgbClr val="000000"/>
              </a:solidFill>
              <a:effectLst/>
              <a:uFillTx/>
              <a:latin typeface="Arial"/>
            </a:endParaRPr>
          </a:p>
        </p:txBody>
      </p:sp>
      <p:sp>
        <p:nvSpPr>
          <p:cNvPr id="128" name="Text 10"/>
          <p:cNvSpPr/>
          <p:nvPr/>
        </p:nvSpPr>
        <p:spPr>
          <a:xfrm>
            <a:off x="8275320" y="2286000"/>
            <a:ext cx="3291120" cy="38397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Realistic export tariff for grid feed-in?</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Calibration data for forecast noise levels?</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Resiliency revenue: is $0.10/min representative?</a:t>
            </a:r>
            <a:endParaRPr lang="de-DE" sz="1300" b="0" u="none" strike="noStrike">
              <a:solidFill>
                <a:srgbClr val="000000"/>
              </a:solidFill>
              <a:effectLst/>
              <a:uFillTx/>
              <a:latin typeface="Arial"/>
            </a:endParaRPr>
          </a:p>
          <a:p>
            <a:pPr marL="343080" indent="-343080" defTabSz="914400">
              <a:lnSpc>
                <a:spcPct val="100000"/>
              </a:lnSpc>
              <a:spcAft>
                <a:spcPts val="601"/>
              </a:spcAft>
              <a:buClr>
                <a:srgbClr val="36454F"/>
              </a:buClr>
              <a:buFont typeface="Symbol" charset="2"/>
              <a:buChar char=""/>
            </a:pPr>
            <a:r>
              <a:rPr lang="en-US" sz="1300" b="0" u="none" strike="noStrike">
                <a:solidFill>
                  <a:srgbClr val="36454F"/>
                </a:solidFill>
                <a:effectLst/>
                <a:uFillTx/>
                <a:latin typeface="Calibri"/>
              </a:rPr>
              <a:t>Comparison instance size for the quantum track?</a:t>
            </a:r>
            <a:endParaRPr lang="de-DE" sz="1300" b="0" u="none" strike="noStrike">
              <a:solidFill>
                <a:srgbClr val="000000"/>
              </a:solidFill>
              <a:effectLst/>
              <a:uFillTx/>
              <a:latin typeface="Arial"/>
            </a:endParaRPr>
          </a:p>
        </p:txBody>
      </p:sp>
      <p:sp>
        <p:nvSpPr>
          <p:cNvPr id="129" name="Text 11"/>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10/12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30" name="Text 0"/>
          <p:cNvSpPr/>
          <p:nvPr/>
        </p:nvSpPr>
        <p:spPr>
          <a:xfrm>
            <a:off x="731520" y="548640"/>
            <a:ext cx="10697760" cy="730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Summary</a:t>
            </a:r>
            <a:endParaRPr lang="de-DE" sz="3600" b="0" u="none" strike="noStrike">
              <a:solidFill>
                <a:srgbClr val="FFFFFF"/>
              </a:solidFill>
              <a:effectLst/>
              <a:uFillTx/>
              <a:latin typeface="Arial"/>
            </a:endParaRPr>
          </a:p>
        </p:txBody>
      </p:sp>
      <p:sp>
        <p:nvSpPr>
          <p:cNvPr id="131" name="Text 1"/>
          <p:cNvSpPr/>
          <p:nvPr/>
        </p:nvSpPr>
        <p:spPr>
          <a:xfrm>
            <a:off x="731520" y="1828800"/>
            <a:ext cx="822240" cy="822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rgbClr val="F96167"/>
                </a:solidFill>
                <a:effectLst/>
                <a:uFillTx/>
                <a:latin typeface="Calibri"/>
              </a:rPr>
              <a:t>01</a:t>
            </a:r>
            <a:endParaRPr lang="de-DE" sz="3600" b="0" u="none" strike="noStrike">
              <a:solidFill>
                <a:srgbClr val="FFFFFF"/>
              </a:solidFill>
              <a:effectLst/>
              <a:uFillTx/>
              <a:latin typeface="Arial"/>
            </a:endParaRPr>
          </a:p>
        </p:txBody>
      </p:sp>
      <p:sp>
        <p:nvSpPr>
          <p:cNvPr id="132" name="Text 2"/>
          <p:cNvSpPr/>
          <p:nvPr/>
        </p:nvSpPr>
        <p:spPr>
          <a:xfrm>
            <a:off x="1645920" y="1828800"/>
            <a:ext cx="978336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rPr>
              <a:t>Classical Solver Works</a:t>
            </a:r>
            <a:endParaRPr lang="de-DE" sz="1800" b="0" u="none" strike="noStrike">
              <a:solidFill>
                <a:srgbClr val="FFFFFF"/>
              </a:solidFill>
              <a:effectLst/>
              <a:uFillTx/>
              <a:latin typeface="Arial"/>
            </a:endParaRPr>
          </a:p>
        </p:txBody>
      </p:sp>
      <p:sp>
        <p:nvSpPr>
          <p:cNvPr id="133" name="Text 3"/>
          <p:cNvSpPr/>
          <p:nvPr/>
        </p:nvSpPr>
        <p:spPr>
          <a:xfrm>
            <a:off x="1645920" y="2240280"/>
            <a:ext cx="978336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ADCFC"/>
                </a:solidFill>
                <a:effectLst/>
                <a:uFillTx/>
                <a:latin typeface="Calibri"/>
              </a:rPr>
              <a:t>MILP via Gurobi, all One-Pager requirements covered. Deterministic 30 days in 2 s, gap 0 %.</a:t>
            </a:r>
            <a:endParaRPr lang="de-DE" sz="1300" b="0" u="none" strike="noStrike">
              <a:solidFill>
                <a:srgbClr val="FFFFFF"/>
              </a:solidFill>
              <a:effectLst/>
              <a:uFillTx/>
              <a:latin typeface="Arial"/>
            </a:endParaRPr>
          </a:p>
        </p:txBody>
      </p:sp>
      <p:sp>
        <p:nvSpPr>
          <p:cNvPr id="134" name="Text 4"/>
          <p:cNvSpPr/>
          <p:nvPr/>
        </p:nvSpPr>
        <p:spPr>
          <a:xfrm>
            <a:off x="731520" y="2880360"/>
            <a:ext cx="822240" cy="822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rgbClr val="F96167"/>
                </a:solidFill>
                <a:effectLst/>
                <a:uFillTx/>
                <a:latin typeface="Calibri"/>
              </a:rPr>
              <a:t>02</a:t>
            </a:r>
            <a:endParaRPr lang="de-DE" sz="3600" b="0" u="none" strike="noStrike">
              <a:solidFill>
                <a:srgbClr val="FFFFFF"/>
              </a:solidFill>
              <a:effectLst/>
              <a:uFillTx/>
              <a:latin typeface="Arial"/>
            </a:endParaRPr>
          </a:p>
        </p:txBody>
      </p:sp>
      <p:sp>
        <p:nvSpPr>
          <p:cNvPr id="135" name="Text 5"/>
          <p:cNvSpPr/>
          <p:nvPr/>
        </p:nvSpPr>
        <p:spPr>
          <a:xfrm>
            <a:off x="1645920" y="2880360"/>
            <a:ext cx="978336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rPr>
              <a:t>Stochastic Hardness Achieved</a:t>
            </a:r>
            <a:endParaRPr lang="de-DE" sz="1800" b="0" u="none" strike="noStrike">
              <a:solidFill>
                <a:srgbClr val="FFFFFF"/>
              </a:solidFill>
              <a:effectLst/>
              <a:uFillTx/>
              <a:latin typeface="Arial"/>
            </a:endParaRPr>
          </a:p>
        </p:txBody>
      </p:sp>
      <p:sp>
        <p:nvSpPr>
          <p:cNvPr id="136" name="Text 6"/>
          <p:cNvSpPr/>
          <p:nvPr/>
        </p:nvSpPr>
        <p:spPr>
          <a:xfrm>
            <a:off x="1645920" y="3291840"/>
            <a:ext cx="978336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ADCFC"/>
                </a:solidFill>
                <a:effectLst/>
                <a:uFillTx/>
                <a:latin typeface="Calibri"/>
              </a:rPr>
              <a:t>Two-Stage Programming couples the scenarios genuinely — at M=10, T=2880 the time limit is no longer sufficient.</a:t>
            </a:r>
            <a:endParaRPr lang="de-DE" sz="1300" b="0" u="none" strike="noStrike">
              <a:solidFill>
                <a:srgbClr val="FFFFFF"/>
              </a:solidFill>
              <a:effectLst/>
              <a:uFillTx/>
              <a:latin typeface="Arial"/>
            </a:endParaRPr>
          </a:p>
        </p:txBody>
      </p:sp>
      <p:sp>
        <p:nvSpPr>
          <p:cNvPr id="137" name="Text 7"/>
          <p:cNvSpPr/>
          <p:nvPr/>
        </p:nvSpPr>
        <p:spPr>
          <a:xfrm>
            <a:off x="731520" y="3931920"/>
            <a:ext cx="822240" cy="822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rgbClr val="F96167"/>
                </a:solidFill>
                <a:effectLst/>
                <a:uFillTx/>
                <a:latin typeface="Calibri"/>
              </a:rPr>
              <a:t>03</a:t>
            </a:r>
            <a:endParaRPr lang="de-DE" sz="3600" b="0" u="none" strike="noStrike">
              <a:solidFill>
                <a:srgbClr val="FFFFFF"/>
              </a:solidFill>
              <a:effectLst/>
              <a:uFillTx/>
              <a:latin typeface="Arial"/>
            </a:endParaRPr>
          </a:p>
        </p:txBody>
      </p:sp>
      <p:sp>
        <p:nvSpPr>
          <p:cNvPr id="138" name="Text 8"/>
          <p:cNvSpPr/>
          <p:nvPr/>
        </p:nvSpPr>
        <p:spPr>
          <a:xfrm>
            <a:off x="1645920" y="3931920"/>
            <a:ext cx="978336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rPr>
              <a:t>Quantum Track Prepared</a:t>
            </a:r>
            <a:endParaRPr lang="de-DE" sz="1800" b="0" u="none" strike="noStrike">
              <a:solidFill>
                <a:srgbClr val="FFFFFF"/>
              </a:solidFill>
              <a:effectLst/>
              <a:uFillTx/>
              <a:latin typeface="Arial"/>
            </a:endParaRPr>
          </a:p>
        </p:txBody>
      </p:sp>
      <p:sp>
        <p:nvSpPr>
          <p:cNvPr id="139" name="Text 9"/>
          <p:cNvSpPr/>
          <p:nvPr/>
        </p:nvSpPr>
        <p:spPr>
          <a:xfrm>
            <a:off x="1645920" y="4343400"/>
            <a:ext cx="978336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ADCFC"/>
                </a:solidFill>
                <a:effectLst/>
                <a:uFillTx/>
                <a:latin typeface="Calibri"/>
              </a:rPr>
              <a:t>Canonical comparison instance T=2,880, M=5 with gap 0 % established — reference baseline for D-Wave.</a:t>
            </a:r>
            <a:endParaRPr lang="de-DE" sz="1300" b="0" u="none" strike="noStrike">
              <a:solidFill>
                <a:srgbClr val="FFFFFF"/>
              </a:solidFill>
              <a:effectLst/>
              <a:uFillTx/>
              <a:latin typeface="Arial"/>
            </a:endParaRPr>
          </a:p>
        </p:txBody>
      </p:sp>
      <p:sp>
        <p:nvSpPr>
          <p:cNvPr id="140" name="Text 10"/>
          <p:cNvSpPr/>
          <p:nvPr/>
        </p:nvSpPr>
        <p:spPr>
          <a:xfrm>
            <a:off x="731520" y="4983480"/>
            <a:ext cx="822240" cy="822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rgbClr val="F96167"/>
                </a:solidFill>
                <a:effectLst/>
                <a:uFillTx/>
                <a:latin typeface="Calibri"/>
              </a:rPr>
              <a:t>04</a:t>
            </a:r>
            <a:endParaRPr lang="de-DE" sz="3600" b="0" u="none" strike="noStrike">
              <a:solidFill>
                <a:srgbClr val="FFFFFF"/>
              </a:solidFill>
              <a:effectLst/>
              <a:uFillTx/>
              <a:latin typeface="Arial"/>
            </a:endParaRPr>
          </a:p>
        </p:txBody>
      </p:sp>
      <p:sp>
        <p:nvSpPr>
          <p:cNvPr id="141" name="Text 11"/>
          <p:cNvSpPr/>
          <p:nvPr/>
        </p:nvSpPr>
        <p:spPr>
          <a:xfrm>
            <a:off x="1645920" y="4983480"/>
            <a:ext cx="9783360" cy="410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rPr>
              <a:t>Where It Gets Interesting</a:t>
            </a:r>
            <a:endParaRPr lang="de-DE" sz="1800" b="0" u="none" strike="noStrike">
              <a:solidFill>
                <a:srgbClr val="FFFFFF"/>
              </a:solidFill>
              <a:effectLst/>
              <a:uFillTx/>
              <a:latin typeface="Arial"/>
            </a:endParaRPr>
          </a:p>
        </p:txBody>
      </p:sp>
      <p:sp>
        <p:nvSpPr>
          <p:cNvPr id="142" name="Text 12"/>
          <p:cNvSpPr/>
          <p:nvPr/>
        </p:nvSpPr>
        <p:spPr>
          <a:xfrm>
            <a:off x="1645920" y="5394960"/>
            <a:ext cx="978336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ADCFC"/>
                </a:solidFill>
                <a:effectLst/>
                <a:uFillTx/>
                <a:latin typeface="Calibri"/>
              </a:rPr>
              <a:t>Precisely in the stochastic hardness regime we investigate whether quantum approaches show different scaling.</a:t>
            </a:r>
            <a:endParaRPr lang="de-DE"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6454F"/>
        </a:solidFill>
      </p:bgPr>
    </p:bg>
    <p:spTree>
      <p:nvGrpSpPr>
        <p:cNvPr id="1" name=""/>
        <p:cNvGrpSpPr/>
        <p:nvPr/>
      </p:nvGrpSpPr>
      <p:grpSpPr>
        <a:xfrm>
          <a:off x="0" y="0"/>
          <a:ext cx="0" cy="0"/>
          <a:chOff x="0" y="0"/>
          <a:chExt cx="0" cy="0"/>
        </a:xfrm>
      </p:grpSpPr>
      <p:sp>
        <p:nvSpPr>
          <p:cNvPr id="143" name="Text 0"/>
          <p:cNvSpPr/>
          <p:nvPr/>
        </p:nvSpPr>
        <p:spPr>
          <a:xfrm>
            <a:off x="731520" y="2743200"/>
            <a:ext cx="10697760" cy="913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000" b="1" u="none" strike="noStrike">
                <a:solidFill>
                  <a:srgbClr val="FFFFFF"/>
                </a:solidFill>
                <a:effectLst/>
                <a:uFillTx/>
                <a:latin typeface="Calibri"/>
              </a:rPr>
              <a:t>Backup</a:t>
            </a:r>
            <a:endParaRPr lang="de-DE" sz="6000" b="0" u="none" strike="noStrike">
              <a:solidFill>
                <a:srgbClr val="FFFFFF"/>
              </a:solidFill>
              <a:effectLst/>
              <a:uFillTx/>
              <a:latin typeface="Arial"/>
            </a:endParaRPr>
          </a:p>
        </p:txBody>
      </p:sp>
      <p:sp>
        <p:nvSpPr>
          <p:cNvPr id="144" name="Text 1"/>
          <p:cNvSpPr/>
          <p:nvPr/>
        </p:nvSpPr>
        <p:spPr>
          <a:xfrm>
            <a:off x="731520" y="3657600"/>
            <a:ext cx="1069776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i="1" u="none" strike="noStrike">
                <a:solidFill>
                  <a:srgbClr val="CADCFC"/>
                </a:solidFill>
                <a:effectLst/>
                <a:uFillTx/>
                <a:latin typeface="Calibri"/>
              </a:rPr>
              <a:t>Detailed numbers and implementation notes</a:t>
            </a:r>
            <a:endParaRPr lang="de-DE"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Backup: Full Scaling Table</a:t>
            </a:r>
            <a:endParaRPr lang="de-DE" sz="3200" b="0" u="none" strike="noStrike">
              <a:solidFill>
                <a:srgbClr val="000000"/>
              </a:solidFill>
              <a:effectLst/>
              <a:uFillTx/>
              <a:latin typeface="Arial"/>
            </a:endParaRPr>
          </a:p>
        </p:txBody>
      </p:sp>
      <p:sp>
        <p:nvSpPr>
          <p:cNvPr id="146"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Solver performance across all (T, M) combinations</a:t>
            </a:r>
            <a:endParaRPr lang="de-DE" sz="1600" b="0" u="none" strike="noStrike">
              <a:solidFill>
                <a:srgbClr val="000000"/>
              </a:solidFill>
              <a:effectLst/>
              <a:uFillTx/>
              <a:latin typeface="Arial"/>
            </a:endParaRPr>
          </a:p>
        </p:txBody>
      </p:sp>
      <p:pic>
        <p:nvPicPr>
          <p:cNvPr id="147" name="Image 0" descr="/home/claude/deck/figures/fig_runtime_heatmap.png"/>
          <p:cNvPicPr/>
          <p:nvPr/>
        </p:nvPicPr>
        <p:blipFill>
          <a:blip r:embed="rId1"/>
          <a:stretch/>
        </p:blipFill>
        <p:spPr>
          <a:xfrm>
            <a:off x="3043800" y="1417320"/>
            <a:ext cx="6073200" cy="2376720"/>
          </a:xfrm>
          <a:prstGeom prst="rect">
            <a:avLst/>
          </a:prstGeom>
          <a:noFill/>
          <a:ln w="0">
            <a:noFill/>
          </a:ln>
        </p:spPr>
      </p:pic>
      <p:graphicFrame>
        <p:nvGraphicFramePr>
          <p:cNvPr id="148" name="Table 0"/>
          <p:cNvGraphicFramePr/>
          <p:nvPr/>
        </p:nvGraphicFramePr>
        <p:xfrm>
          <a:off x="914400" y="4114800"/>
          <a:ext cx="10331640" cy="1828440"/>
        </p:xfrm>
        <a:graphic>
          <a:graphicData uri="http://schemas.openxmlformats.org/drawingml/2006/table">
            <a:tbl>
              <a:tblPr/>
              <a:tblGrid>
                <a:gridCol w="2743200"/>
                <a:gridCol w="1517760"/>
                <a:gridCol w="1517760"/>
                <a:gridCol w="1517760"/>
                <a:gridCol w="1517760"/>
                <a:gridCol w="1517760"/>
              </a:tblGrid>
              <a:tr h="457200">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M / T</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96 (1d)</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288 (3d)</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672 (7d)</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1440 (15d)</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2880 (30d)</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r>
              <a:tr h="457200">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M=1 (deterministic)</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0.03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0.12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0.24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0.51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2.19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r>
              <a:tr h="457200">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M=5 (stochastic)</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0.14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0.70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2.58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6.33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68.8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r>
              <a:tr h="457200">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M=10 (stochastic)</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0.33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1.09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11.5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ea typeface="Calibri"/>
                        </a:rPr>
                        <a:t>36.7 s</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120 s (TL)</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F96167"/>
                    </a:solidFill>
                  </a:tcPr>
                </a:tc>
              </a:tr>
            </a:tbl>
          </a:graphicData>
        </a:graphic>
      </p:graphicFrame>
      <p:sp>
        <p:nvSpPr>
          <p:cNvPr id="149" name="Text 2"/>
          <p:cNvSpPr/>
          <p:nvPr/>
        </p:nvSpPr>
        <p:spPr>
          <a:xfrm>
            <a:off x="914400" y="6035040"/>
            <a:ext cx="103320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i="1" u="none" strike="noStrike">
                <a:solidFill>
                  <a:srgbClr val="7A8BB8"/>
                </a:solidFill>
                <a:effectLst/>
                <a:uFillTx/>
                <a:latin typeface="Calibri"/>
              </a:rPr>
              <a:t>TL = Time Limit (120 s) reached without proof of optimality, MIP gap 0.02 %</a:t>
            </a:r>
            <a:endParaRPr lang="de-DE" sz="1100" b="0" u="none" strike="noStrike">
              <a:solidFill>
                <a:srgbClr val="000000"/>
              </a:solidFill>
              <a:effectLst/>
              <a:uFillTx/>
              <a:latin typeface="Arial"/>
            </a:endParaRPr>
          </a:p>
        </p:txBody>
      </p:sp>
      <p:sp>
        <p:nvSpPr>
          <p:cNvPr id="150" name="Text 3"/>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B1/12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Backup: Cost Breakdown</a:t>
            </a:r>
            <a:endParaRPr lang="de-DE" sz="3200" b="0" u="none" strike="noStrike">
              <a:solidFill>
                <a:srgbClr val="000000"/>
              </a:solidFill>
              <a:effectLst/>
              <a:uFillTx/>
              <a:latin typeface="Arial"/>
            </a:endParaRPr>
          </a:p>
        </p:txBody>
      </p:sp>
      <p:sp>
        <p:nvSpPr>
          <p:cNvPr id="152"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Deterministic vs. Stochastic at T=2,880, M=5</a:t>
            </a:r>
            <a:endParaRPr lang="de-DE" sz="1600" b="0" u="none" strike="noStrike">
              <a:solidFill>
                <a:srgbClr val="000000"/>
              </a:solidFill>
              <a:effectLst/>
              <a:uFillTx/>
              <a:latin typeface="Arial"/>
            </a:endParaRPr>
          </a:p>
        </p:txBody>
      </p:sp>
      <p:pic>
        <p:nvPicPr>
          <p:cNvPr id="153" name="Image 0" descr="/home/claude/deck/figures/fig_cost_breakdown.png"/>
          <p:cNvPicPr/>
          <p:nvPr/>
        </p:nvPicPr>
        <p:blipFill>
          <a:blip r:embed="rId1"/>
          <a:stretch/>
        </p:blipFill>
        <p:spPr>
          <a:xfrm>
            <a:off x="2084040" y="1417320"/>
            <a:ext cx="7993080" cy="2742480"/>
          </a:xfrm>
          <a:prstGeom prst="rect">
            <a:avLst/>
          </a:prstGeom>
          <a:noFill/>
          <a:ln w="0">
            <a:noFill/>
          </a:ln>
        </p:spPr>
      </p:pic>
      <p:graphicFrame>
        <p:nvGraphicFramePr>
          <p:cNvPr id="154" name="Table 0"/>
          <p:cNvGraphicFramePr/>
          <p:nvPr/>
        </p:nvGraphicFramePr>
        <p:xfrm>
          <a:off x="1371600" y="4754880"/>
          <a:ext cx="9417960" cy="1645560"/>
        </p:xfrm>
        <a:graphic>
          <a:graphicData uri="http://schemas.openxmlformats.org/drawingml/2006/table">
            <a:tbl>
              <a:tblPr/>
              <a:tblGrid>
                <a:gridCol w="2468880"/>
                <a:gridCol w="1737360"/>
                <a:gridCol w="1737360"/>
                <a:gridCol w="1737360"/>
                <a:gridCol w="1737360"/>
              </a:tblGrid>
              <a:tr h="411480">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rPr>
                        <a:t>Mode</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rPr>
                        <a:t>Energy Cost</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rPr>
                        <a:t>Demand Charge</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rPr>
                        <a:t>Resiliency Rev.</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c>
                  <a:txBody>
                    <a:bodyPr anchor="ctr">
                      <a:noAutofit/>
                    </a:bodyPr>
                    <a:p>
                      <a:pPr algn="ctr" defTabSz="914400">
                        <a:lnSpc>
                          <a:spcPct val="100000"/>
                        </a:lnSpc>
                        <a:tabLst>
                          <a:tab pos="0" algn="l"/>
                        </a:tabLst>
                      </a:pPr>
                      <a:r>
                        <a:rPr lang="en-US" sz="1300" b="1" u="none" strike="noStrike">
                          <a:solidFill>
                            <a:srgbClr val="FFFFFF"/>
                          </a:solidFill>
                          <a:effectLst/>
                          <a:uFillTx/>
                          <a:latin typeface="Calibri"/>
                        </a:rPr>
                        <a:t>Total Cost</a:t>
                      </a:r>
                      <a:endParaRPr lang="de-DE" sz="1300" b="0" u="none" strike="noStrike">
                        <a:solidFill>
                          <a:srgbClr val="FFFFFF"/>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solidFill>
                      <a:srgbClr val="1E2761"/>
                    </a:solidFill>
                  </a:tcPr>
                </a:tc>
              </a:tr>
              <a:tr h="411480">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Deterministic (M=1)</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$10,423</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$4,380</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$1.50</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$14,802</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r>
              <a:tr h="411480">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Stochastic (M=5)</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$10,617</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$4,323</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$0.00</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$14,937</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r>
              <a:tr h="411480">
                <a:tc>
                  <a:txBody>
                    <a:bodyPr anchor="ctr">
                      <a:noAutofit/>
                    </a:bodyPr>
                    <a:p>
                      <a:pPr algn="ctr" defTabSz="914400">
                        <a:lnSpc>
                          <a:spcPct val="100000"/>
                        </a:lnSpc>
                        <a:tabLst>
                          <a:tab pos="0" algn="l"/>
                        </a:tabLst>
                      </a:pPr>
                      <a:r>
                        <a:rPr lang="en-US" sz="1300" b="0" i="1" u="none" strike="noStrike">
                          <a:solidFill>
                            <a:srgbClr val="36454F"/>
                          </a:solidFill>
                          <a:effectLst/>
                          <a:uFillTx/>
                          <a:latin typeface="Calibri"/>
                        </a:rPr>
                        <a:t>Δ (Information Cost)</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+$194</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−$57</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0" u="none" strike="noStrike">
                          <a:solidFill>
                            <a:srgbClr val="36454F"/>
                          </a:solidFill>
                          <a:effectLst/>
                          <a:uFillTx/>
                          <a:latin typeface="Calibri"/>
                        </a:rPr>
                        <a:t>−$1.50</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c>
                  <a:txBody>
                    <a:bodyPr anchor="ctr">
                      <a:noAutofit/>
                    </a:bodyPr>
                    <a:p>
                      <a:pPr algn="ctr" defTabSz="914400">
                        <a:lnSpc>
                          <a:spcPct val="100000"/>
                        </a:lnSpc>
                        <a:tabLst>
                          <a:tab pos="0" algn="l"/>
                        </a:tabLst>
                      </a:pPr>
                      <a:r>
                        <a:rPr lang="en-US" sz="1300" b="1" u="none" strike="noStrike">
                          <a:solidFill>
                            <a:srgbClr val="F96167"/>
                          </a:solidFill>
                          <a:effectLst/>
                          <a:uFillTx/>
                          <a:latin typeface="Calibri"/>
                        </a:rPr>
                        <a:t>+$135</a:t>
                      </a:r>
                      <a:endParaRPr lang="de-DE" sz="1300" b="0" u="none" strike="noStrike">
                        <a:solidFill>
                          <a:srgbClr val="000000"/>
                        </a:solidFill>
                        <a:effectLst/>
                        <a:uFillTx/>
                        <a:latin typeface="Arial"/>
                      </a:endParaRPr>
                    </a:p>
                  </a:txBody>
                  <a:tcPr anchor="ctr" marL="91440" marR="91440" marT="45720" marB="45720">
                    <a:lnL w="12240">
                      <a:solidFill>
                        <a:srgbClr val="CADCFC"/>
                      </a:solidFill>
                      <a:prstDash val="solid"/>
                    </a:lnL>
                    <a:lnR w="12240">
                      <a:solidFill>
                        <a:srgbClr val="CADCFC"/>
                      </a:solidFill>
                      <a:prstDash val="solid"/>
                    </a:lnR>
                    <a:lnT w="12240">
                      <a:solidFill>
                        <a:srgbClr val="CADCFC"/>
                      </a:solidFill>
                      <a:prstDash val="solid"/>
                    </a:lnT>
                    <a:lnB w="12240">
                      <a:solidFill>
                        <a:srgbClr val="CADCFC"/>
                      </a:solidFill>
                      <a:prstDash val="solid"/>
                    </a:lnB>
                    <a:noFill/>
                  </a:tcPr>
                </a:tc>
              </a:tr>
            </a:tbl>
          </a:graphicData>
        </a:graphic>
      </p:graphicFrame>
      <p:sp>
        <p:nvSpPr>
          <p:cNvPr id="155" name="Text 2"/>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B2/12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Text 0"/>
          <p:cNvSpPr/>
          <p:nvPr/>
        </p:nvSpPr>
        <p:spPr>
          <a:xfrm>
            <a:off x="457200" y="274320"/>
            <a:ext cx="1124640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E2761"/>
                </a:solidFill>
                <a:effectLst/>
                <a:uFillTx/>
                <a:latin typeface="Calibri"/>
                <a:ea typeface="Calibri"/>
              </a:rPr>
              <a:t>Backup: Implementation Highlights</a:t>
            </a:r>
            <a:endParaRPr lang="de-DE" sz="3200" b="0" u="none" strike="noStrike">
              <a:solidFill>
                <a:srgbClr val="000000"/>
              </a:solidFill>
              <a:effectLst/>
              <a:uFillTx/>
              <a:latin typeface="Arial"/>
            </a:endParaRPr>
          </a:p>
        </p:txBody>
      </p:sp>
      <p:sp>
        <p:nvSpPr>
          <p:cNvPr id="157" name="Text 1"/>
          <p:cNvSpPr/>
          <p:nvPr/>
        </p:nvSpPr>
        <p:spPr>
          <a:xfrm>
            <a:off x="457200" y="960120"/>
            <a:ext cx="11246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36454F"/>
                </a:solidFill>
                <a:effectLst/>
                <a:uFillTx/>
                <a:latin typeface="Calibri"/>
                <a:ea typeface="Calibri"/>
              </a:rPr>
              <a:t>Key technical choices in the classical solver</a:t>
            </a:r>
            <a:endParaRPr lang="de-DE" sz="1600" b="0" u="none" strike="noStrike">
              <a:solidFill>
                <a:srgbClr val="000000"/>
              </a:solidFill>
              <a:effectLst/>
              <a:uFillTx/>
              <a:latin typeface="Arial"/>
            </a:endParaRPr>
          </a:p>
        </p:txBody>
      </p:sp>
      <p:sp>
        <p:nvSpPr>
          <p:cNvPr id="158" name="Shape 2"/>
          <p:cNvSpPr/>
          <p:nvPr/>
        </p:nvSpPr>
        <p:spPr>
          <a:xfrm>
            <a:off x="731520" y="1645920"/>
            <a:ext cx="5302800" cy="219384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59" name="Shape 3"/>
          <p:cNvSpPr/>
          <p:nvPr/>
        </p:nvSpPr>
        <p:spPr>
          <a:xfrm>
            <a:off x="731520" y="1645920"/>
            <a:ext cx="72360" cy="2193840"/>
          </a:xfrm>
          <a:prstGeom prst="rect">
            <a:avLst/>
          </a:prstGeom>
          <a:solidFill>
            <a:srgbClr val="1E276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60" name="Text 4"/>
          <p:cNvSpPr/>
          <p:nvPr/>
        </p:nvSpPr>
        <p:spPr>
          <a:xfrm>
            <a:off x="1005840" y="1828800"/>
            <a:ext cx="484560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761"/>
                </a:solidFill>
                <a:effectLst/>
                <a:uFillTx/>
                <a:latin typeface="Calibri"/>
              </a:rPr>
              <a:t>Three-Tier SoC Power Limits</a:t>
            </a:r>
            <a:endParaRPr lang="de-DE" sz="1500" b="0" u="none" strike="noStrike">
              <a:solidFill>
                <a:srgbClr val="000000"/>
              </a:solidFill>
              <a:effectLst/>
              <a:uFillTx/>
              <a:latin typeface="Arial"/>
            </a:endParaRPr>
          </a:p>
        </p:txBody>
      </p:sp>
      <p:sp>
        <p:nvSpPr>
          <p:cNvPr id="161" name="Text 5"/>
          <p:cNvSpPr/>
          <p:nvPr/>
        </p:nvSpPr>
        <p:spPr>
          <a:xfrm>
            <a:off x="1005840" y="2331720"/>
            <a:ext cx="4845600" cy="1416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6454F"/>
                </a:solidFill>
                <a:effectLst/>
                <a:uFillTx/>
                <a:latin typeface="Calibri"/>
              </a:rPr>
              <a:t>Battery power limits depend on State-of-Charge: 50 % at 0–10 % SoC, 100 % at 10–90 % SoC, 50 % at 90–100 % SoC. Models battery protection at extremes (per One-Pager spec).</a:t>
            </a:r>
            <a:endParaRPr lang="de-DE" sz="1200" b="0" u="none" strike="noStrike">
              <a:solidFill>
                <a:srgbClr val="000000"/>
              </a:solidFill>
              <a:effectLst/>
              <a:uFillTx/>
              <a:latin typeface="Arial"/>
            </a:endParaRPr>
          </a:p>
        </p:txBody>
      </p:sp>
      <p:sp>
        <p:nvSpPr>
          <p:cNvPr id="162" name="Shape 6"/>
          <p:cNvSpPr/>
          <p:nvPr/>
        </p:nvSpPr>
        <p:spPr>
          <a:xfrm>
            <a:off x="6309360" y="1645920"/>
            <a:ext cx="5302800" cy="219384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63" name="Shape 7"/>
          <p:cNvSpPr/>
          <p:nvPr/>
        </p:nvSpPr>
        <p:spPr>
          <a:xfrm>
            <a:off x="6309360" y="1645920"/>
            <a:ext cx="72360" cy="2193840"/>
          </a:xfrm>
          <a:prstGeom prst="rect">
            <a:avLst/>
          </a:prstGeom>
          <a:solidFill>
            <a:srgbClr val="F96167"/>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64" name="Text 8"/>
          <p:cNvSpPr/>
          <p:nvPr/>
        </p:nvSpPr>
        <p:spPr>
          <a:xfrm>
            <a:off x="6583680" y="1828800"/>
            <a:ext cx="484560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96167"/>
                </a:solidFill>
                <a:effectLst/>
                <a:uFillTx/>
                <a:latin typeface="Calibri"/>
              </a:rPr>
              <a:t>Charge - Discharge XOR</a:t>
            </a:r>
            <a:endParaRPr lang="de-DE" sz="1500" b="0" u="none" strike="noStrike">
              <a:solidFill>
                <a:srgbClr val="000000"/>
              </a:solidFill>
              <a:effectLst/>
              <a:uFillTx/>
              <a:latin typeface="Arial"/>
            </a:endParaRPr>
          </a:p>
        </p:txBody>
      </p:sp>
      <p:sp>
        <p:nvSpPr>
          <p:cNvPr id="165" name="Text 9"/>
          <p:cNvSpPr/>
          <p:nvPr/>
        </p:nvSpPr>
        <p:spPr>
          <a:xfrm>
            <a:off x="6583680" y="2331720"/>
            <a:ext cx="4845600" cy="1416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6454F"/>
                </a:solidFill>
                <a:effectLst/>
                <a:uFillTx/>
                <a:latin typeface="Calibri"/>
              </a:rPr>
              <a:t>Binary on/off variables enforce mutual exclusion: battery cannot charge and discharge simultaneously. Added as a hardness lever after the initial deterministic baseline solved too easily.</a:t>
            </a:r>
            <a:endParaRPr lang="de-DE" sz="1200" b="0" u="none" strike="noStrike">
              <a:solidFill>
                <a:srgbClr val="000000"/>
              </a:solidFill>
              <a:effectLst/>
              <a:uFillTx/>
              <a:latin typeface="Arial"/>
            </a:endParaRPr>
          </a:p>
        </p:txBody>
      </p:sp>
      <p:sp>
        <p:nvSpPr>
          <p:cNvPr id="166" name="Shape 10"/>
          <p:cNvSpPr/>
          <p:nvPr/>
        </p:nvSpPr>
        <p:spPr>
          <a:xfrm>
            <a:off x="731520" y="4114800"/>
            <a:ext cx="5302800" cy="219384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67" name="Shape 11"/>
          <p:cNvSpPr/>
          <p:nvPr/>
        </p:nvSpPr>
        <p:spPr>
          <a:xfrm>
            <a:off x="731520" y="4114800"/>
            <a:ext cx="72360" cy="2193840"/>
          </a:xfrm>
          <a:prstGeom prst="rect">
            <a:avLst/>
          </a:prstGeom>
          <a:solidFill>
            <a:srgbClr val="264653"/>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68" name="Text 12"/>
          <p:cNvSpPr/>
          <p:nvPr/>
        </p:nvSpPr>
        <p:spPr>
          <a:xfrm>
            <a:off x="1005840" y="4297680"/>
            <a:ext cx="484560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64653"/>
                </a:solidFill>
                <a:effectLst/>
                <a:uFillTx/>
                <a:latin typeface="Calibri"/>
              </a:rPr>
              <a:t>Grid Import - Export XOR</a:t>
            </a:r>
            <a:endParaRPr lang="de-DE" sz="1500" b="0" u="none" strike="noStrike">
              <a:solidFill>
                <a:srgbClr val="000000"/>
              </a:solidFill>
              <a:effectLst/>
              <a:uFillTx/>
              <a:latin typeface="Arial"/>
            </a:endParaRPr>
          </a:p>
        </p:txBody>
      </p:sp>
      <p:sp>
        <p:nvSpPr>
          <p:cNvPr id="169" name="Text 13"/>
          <p:cNvSpPr/>
          <p:nvPr/>
        </p:nvSpPr>
        <p:spPr>
          <a:xfrm>
            <a:off x="1005840" y="4800600"/>
            <a:ext cx="4845600" cy="1416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6454F"/>
                </a:solidFill>
                <a:effectLst/>
                <a:uFillTx/>
                <a:latin typeface="Calibri"/>
              </a:rPr>
              <a:t>Same XOR pattern for grid I/O. Prevents the solver from gaming ToU arbitrage by simultaneous buy/sell. Also matches the structure required by the QUBO formulation.</a:t>
            </a:r>
            <a:endParaRPr lang="de-DE" sz="1200" b="0" u="none" strike="noStrike">
              <a:solidFill>
                <a:srgbClr val="000000"/>
              </a:solidFill>
              <a:effectLst/>
              <a:uFillTx/>
              <a:latin typeface="Arial"/>
            </a:endParaRPr>
          </a:p>
        </p:txBody>
      </p:sp>
      <p:sp>
        <p:nvSpPr>
          <p:cNvPr id="170" name="Shape 14"/>
          <p:cNvSpPr/>
          <p:nvPr/>
        </p:nvSpPr>
        <p:spPr>
          <a:xfrm>
            <a:off x="6309360" y="4114800"/>
            <a:ext cx="5302800" cy="2193840"/>
          </a:xfrm>
          <a:prstGeom prst="rect">
            <a:avLst/>
          </a:prstGeom>
          <a:solidFill>
            <a:srgbClr val="FFFFFF"/>
          </a:solidFill>
          <a:ln w="12600">
            <a:solidFill>
              <a:srgbClr val="CADCFC"/>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1" name="Shape 15"/>
          <p:cNvSpPr/>
          <p:nvPr/>
        </p:nvSpPr>
        <p:spPr>
          <a:xfrm>
            <a:off x="6309360" y="4114800"/>
            <a:ext cx="72360" cy="2193840"/>
          </a:xfrm>
          <a:prstGeom prst="rect">
            <a:avLst/>
          </a:prstGeom>
          <a:solidFill>
            <a:srgbClr val="36454F"/>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72" name="Text 16"/>
          <p:cNvSpPr/>
          <p:nvPr/>
        </p:nvSpPr>
        <p:spPr>
          <a:xfrm>
            <a:off x="6583680" y="4297680"/>
            <a:ext cx="484560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36454F"/>
                </a:solidFill>
                <a:effectLst/>
                <a:uFillTx/>
                <a:latin typeface="Calibri"/>
              </a:rPr>
              <a:t>Two-Stage Stochastic Coupling</a:t>
            </a:r>
            <a:endParaRPr lang="de-DE" sz="1500" b="0" u="none" strike="noStrike">
              <a:solidFill>
                <a:srgbClr val="000000"/>
              </a:solidFill>
              <a:effectLst/>
              <a:uFillTx/>
              <a:latin typeface="Arial"/>
            </a:endParaRPr>
          </a:p>
        </p:txBody>
      </p:sp>
      <p:sp>
        <p:nvSpPr>
          <p:cNvPr id="173" name="Text 17"/>
          <p:cNvSpPr/>
          <p:nvPr/>
        </p:nvSpPr>
        <p:spPr>
          <a:xfrm>
            <a:off x="6583680" y="4800600"/>
            <a:ext cx="4845600" cy="1416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6454F"/>
                </a:solidFill>
                <a:effectLst/>
                <a:uFillTx/>
                <a:latin typeface="Calibri"/>
              </a:rPr>
              <a:t>Demand-charge peak is a first-stage variable shared across all scenarios; all dispatch variables are second-stage. This coupling is what makes the stochastic version genuinely hard.</a:t>
            </a:r>
            <a:endParaRPr lang="de-DE" sz="1200" b="0" u="none" strike="noStrike">
              <a:solidFill>
                <a:srgbClr val="000000"/>
              </a:solidFill>
              <a:effectLst/>
              <a:uFillTx/>
              <a:latin typeface="Arial"/>
            </a:endParaRPr>
          </a:p>
        </p:txBody>
      </p:sp>
      <p:sp>
        <p:nvSpPr>
          <p:cNvPr id="174" name="Text 18"/>
          <p:cNvSpPr/>
          <p:nvPr/>
        </p:nvSpPr>
        <p:spPr>
          <a:xfrm>
            <a:off x="457200" y="6492240"/>
            <a:ext cx="1124640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7A8BB8"/>
                </a:solidFill>
                <a:effectLst/>
                <a:uFillTx/>
                <a:latin typeface="Calibri"/>
              </a:rPr>
              <a:t>Microgrid Dispatch — B3/12</a:t>
            </a:r>
            <a:endParaRPr lang="de-DE"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LibreOffice/26.2.1.2$Linux_X86_64 LibreOffice_project/620$Build-2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2026-05-18T06:20:40Z</dcterms:created>
  <dc:creator>QC-Praktikum Team</dc:creator>
  <dc:description/>
  <dc:language>de-DE</dc:language>
  <cp:lastModifiedBy/>
  <dcterms:modified xsi:type="dcterms:W3CDTF">2026-05-18T22:17:28Z</dcterms:modified>
  <cp:revision>4</cp:revision>
  <dc:subject>PptxGenJS Presentation</dc:subject>
  <dc:title>Microgrid Dispatch Optimization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15</vt:r8>
  </property>
  <property fmtid="{D5CDD505-2E9C-101B-9397-08002B2CF9AE}" pid="3" name="PresentationFormat">
    <vt:lpwstr>On-screen Show (16:9)</vt:lpwstr>
  </property>
  <property fmtid="{D5CDD505-2E9C-101B-9397-08002B2CF9AE}" pid="4" name="Slides">
    <vt:r8>15</vt:r8>
  </property>
</Properties>
</file>